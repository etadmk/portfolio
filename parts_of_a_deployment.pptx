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 awake per day</c:v>
                </c:pt>
              </c:strCache>
            </c:strRef>
          </c:tx>
          <c:spPr>
            <a:solidFill>
              <a:srgbClr val="0E4A63"/>
            </a:solidFill>
          </c:spPr>
          <c:cat>
            <c:strRef>
              <c:f>Sheet1!$A$2:$A$7</c:f>
              <c:strCache>
                <c:ptCount val="6"/>
                <c:pt idx="0">
                  <c:v>Hawaii
6.2 sun h</c:v>
                </c:pt>
                <c:pt idx="1">
                  <c:v>Miami
5.8</c:v>
                </c:pt>
                <c:pt idx="2">
                  <c:v>San Diego
5.5</c:v>
                </c:pt>
                <c:pt idx="3">
                  <c:v>Boston
4.2</c:v>
                </c:pt>
                <c:pt idx="4">
                  <c:v>Seattle
3.5</c:v>
                </c:pt>
                <c:pt idx="5">
                  <c:v>Anchorage
2.5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14.4</c:v>
                </c:pt>
                <c:pt idx="1">
                  <c:v>13.4</c:v>
                </c:pt>
                <c:pt idx="2">
                  <c:v>12.7</c:v>
                </c:pt>
                <c:pt idx="3">
                  <c:v>9.4</c:v>
                </c:pt>
                <c:pt idx="4">
                  <c:v>7.6</c:v>
                </c:pt>
                <c:pt idx="5">
                  <c:v>5.1</c:v>
                </c:pt>
              </c:numCache>
            </c:numRef>
          </c:val>
        </c:ser>
        <c:dLbls>
          <c:numFmt formatCode="0.0&quot; h&quot;" sourceLinked="0"/>
          <c:txPr>
            <a:bodyPr/>
            <a:lstStyle/>
            <a:p>
              <a:pPr>
                <a:defRPr sz="1300" b="1">
                  <a:solidFill>
                    <a:srgbClr val="23232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absolute error, W</c:v>
                </c:pt>
              </c:strCache>
            </c:strRef>
          </c:tx>
          <c:spPr>
            <a:solidFill>
              <a:srgbClr val="0E4A63"/>
            </a:solidFill>
          </c:spPr>
          <c:dPt>
            <c:idx val="0"/>
            <c:spPr>
              <a:solidFill>
                <a:srgbClr val="2F7D4F"/>
              </a:solidFill>
            </c:spPr>
          </c:dPt>
          <c:dPt>
            <c:idx val="3"/>
            <c:spPr>
              <a:solidFill>
                <a:srgbClr val="C0392B"/>
              </a:solidFill>
            </c:spPr>
          </c:dPt>
          <c:cat>
            <c:strRef>
              <c:f>Sheet1!$A$2:$A$5</c:f>
              <c:strCache>
                <c:ptCount val="4"/>
                <c:pt idx="0">
                  <c:v>LSTM</c:v>
                </c:pt>
                <c:pt idx="1">
                  <c:v>Classical ML
(8 models)</c:v>
                </c:pt>
                <c:pt idx="2">
                  <c:v>Prophet</c:v>
                </c:pt>
                <c:pt idx="3">
                  <c:v>Naive
baselines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0.93</c:v>
                </c:pt>
                <c:pt idx="1">
                  <c:v>1.1</c:v>
                </c:pt>
                <c:pt idx="2">
                  <c:v>3.58</c:v>
                </c:pt>
                <c:pt idx="3">
                  <c:v>19.3</c:v>
                </c:pt>
              </c:numCache>
            </c:numRef>
          </c:val>
        </c:ser>
        <c:dLbls>
          <c:numFmt formatCode="0.00&quot; W&quot;" sourceLinked="0"/>
          <c:txPr>
            <a:bodyPr/>
            <a:lstStyle/>
            <a:p>
              <a:pPr>
                <a:defRPr sz="1300" b="1">
                  <a:solidFill>
                    <a:srgbClr val="23232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300" b="1" i="0">
                <a:solidFill>
                  <a:srgbClr val="9FD6EC"/>
                </a:solidFill>
                <a:latin typeface="Calibri"/>
              </a:rPr>
              <a:t>DOE / ORISE MARINE ENERGY FELLOWSHIP  ·  MARINESITU</a:t>
            </a:r>
          </a:p>
          <a:p>
            <a:pPr algn="l">
              <a:spcAft>
                <a:spcPts val="12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Parts of a Deployment</a:t>
            </a:r>
          </a:p>
          <a:p>
            <a:pPr algn="l">
              <a:spcAft>
                <a:spcPts val="2200"/>
              </a:spcAft>
            </a:pPr>
            <a:r>
              <a:rPr sz="2000" b="0" i="0">
                <a:solidFill>
                  <a:srgbClr val="CFE8F2"/>
                </a:solidFill>
                <a:latin typeface="Calibri"/>
              </a:rPr>
              <a:t>A year of powering a scientific instrument on a battery that only refills when the sun cooperates.</a:t>
            </a:r>
          </a:p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Aditi Kalle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FE8F2"/>
                </a:solidFill>
                <a:latin typeface="Calibri"/>
              </a:rPr>
              <a:t>9 slides  ·  ~40 minutes  ·  questions after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SLIDE 1  ·  AGENDA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32323"/>
                </a:solidFill>
                <a:latin typeface="Calibri"/>
              </a:rPr>
              <a:t>This year, laid out like a planet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36192"/>
            <a:ext cx="11064240" cy="20320"/>
          </a:xfrm>
          <a:prstGeom prst="rect">
            <a:avLst/>
          </a:prstGeom>
          <a:solidFill>
            <a:srgbClr val="D9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146304" cy="658368"/>
          </a:xfrm>
          <a:prstGeom prst="roundRect">
            <a:avLst/>
          </a:prstGeom>
          <a:solidFill>
            <a:srgbClr val="7A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19655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232323"/>
                </a:solidFill>
                <a:latin typeface="Calibri"/>
              </a:rPr>
              <a:t>Core  </a:t>
            </a:r>
            <a:r>
              <a:rPr sz="1900" b="0">
                <a:solidFill>
                  <a:srgbClr val="0E4A63"/>
                </a:solidFill>
                <a:latin typeface="Calibri"/>
              </a:rPr>
              <a:t>·  Power measurement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D4D4D"/>
                </a:solidFill>
                <a:latin typeface="Calibri"/>
              </a:rPr>
              <a:t>What does this system actually draw?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60903"/>
            <a:ext cx="146304" cy="658368"/>
          </a:xfrm>
          <a:prstGeom prst="roundRect">
            <a:avLst/>
          </a:prstGeom>
          <a:solidFill>
            <a:srgbClr val="C9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06039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232323"/>
                </a:solidFill>
                <a:latin typeface="Calibri"/>
              </a:rPr>
              <a:t>Inner mantle  </a:t>
            </a:r>
            <a:r>
              <a:rPr sz="1900" b="0">
                <a:solidFill>
                  <a:srgbClr val="0E4A63"/>
                </a:solidFill>
                <a:latin typeface="Calibri"/>
              </a:rPr>
              <a:t>·  Optimization math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D4D4D"/>
                </a:solidFill>
                <a:latin typeface="Calibri"/>
              </a:rPr>
              <a:t>Given those numbers, how do you divide the power?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47287"/>
            <a:ext cx="146304" cy="658368"/>
          </a:xfrm>
          <a:prstGeom prst="roundRect">
            <a:avLst/>
          </a:prstGeom>
          <a:solidFill>
            <a:srgbClr val="E2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92423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232323"/>
                </a:solidFill>
                <a:latin typeface="Calibri"/>
              </a:rPr>
              <a:t>Outer mantle  </a:t>
            </a:r>
            <a:r>
              <a:rPr sz="1900" b="0">
                <a:solidFill>
                  <a:srgbClr val="0E4A63"/>
                </a:solidFill>
                <a:latin typeface="Calibri"/>
              </a:rPr>
              <a:t>·  Forecasting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D4D4D"/>
                </a:solidFill>
                <a:latin typeface="Calibri"/>
              </a:rPr>
              <a:t>Can the schedule see tomorrow coming?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233672"/>
            <a:ext cx="146304" cy="658368"/>
          </a:xfrm>
          <a:prstGeom prst="roundRect">
            <a:avLst/>
          </a:prstGeom>
          <a:solidFill>
            <a:srgbClr val="C9B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7880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232323"/>
                </a:solidFill>
                <a:latin typeface="Calibri"/>
              </a:rPr>
              <a:t>Crust  </a:t>
            </a:r>
            <a:r>
              <a:rPr sz="1900" b="0">
                <a:solidFill>
                  <a:srgbClr val="0E4A63"/>
                </a:solidFill>
                <a:latin typeface="Calibri"/>
              </a:rPr>
              <a:t>·  Safety floor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D4D4D"/>
                </a:solidFill>
                <a:latin typeface="Calibri"/>
              </a:rPr>
              <a:t>What actually stops the battery from dying?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020056"/>
            <a:ext cx="146304" cy="658368"/>
          </a:xfrm>
          <a:prstGeom prst="roundRect">
            <a:avLst/>
          </a:prstGeom>
          <a:solidFill>
            <a:srgbClr val="8F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965192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232323"/>
                </a:solidFill>
                <a:latin typeface="Calibri"/>
              </a:rPr>
              <a:t>Surface  </a:t>
            </a:r>
            <a:r>
              <a:rPr sz="1900" b="0">
                <a:solidFill>
                  <a:srgbClr val="0E4A63"/>
                </a:solidFill>
                <a:latin typeface="Calibri"/>
              </a:rPr>
              <a:t>·  Real deployment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D4D4D"/>
                </a:solidFill>
                <a:latin typeface="Calibri"/>
              </a:rPr>
              <a:t>Did any of this hold up against the real world?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87044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32323"/>
                </a:solidFill>
                <a:latin typeface="Calibri"/>
              </a:rPr>
              <a:t>Each layer sits on the one below it. </a:t>
            </a:r>
            <a:r>
              <a:rPr sz="1500" b="0">
                <a:solidFill>
                  <a:srgbClr val="4D4D4D"/>
                </a:solidFill>
                <a:latin typeface="Calibri"/>
              </a:rPr>
              <a:t>That is genuinely how it got built, and why a wrong number at the core invalidated work three layers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SLIDE 2  ·  CORE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32323"/>
                </a:solidFill>
                <a:latin typeface="Calibri"/>
              </a:rPr>
              <a:t>What does this system actually draw?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36192"/>
            <a:ext cx="11064240" cy="20320"/>
          </a:xfrm>
          <a:prstGeom prst="rect">
            <a:avLst/>
          </a:prstGeom>
          <a:solidFill>
            <a:srgbClr val="D9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5029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IMTA BUOY  ·  MEASURED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D4D4D"/>
                </a:solidFill>
                <a:latin typeface="Calibri"/>
              </a:rPr>
              <a:t>Solar panel  </a:t>
            </a:r>
            <a:r>
              <a:rPr sz="1500" b="1">
                <a:solidFill>
                  <a:srgbClr val="232323"/>
                </a:solidFill>
                <a:latin typeface="Calibri"/>
              </a:rPr>
              <a:t>100 W  </a:t>
            </a:r>
            <a:r>
              <a:rPr sz="1500" b="0">
                <a:solidFill>
                  <a:srgbClr val="8A8A84"/>
                </a:solidFill>
                <a:latin typeface="Calibri"/>
              </a:rPr>
              <a:t>rated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D4D4D"/>
                </a:solidFill>
                <a:latin typeface="Calibri"/>
              </a:rPr>
              <a:t>Battery  </a:t>
            </a:r>
            <a:r>
              <a:rPr sz="1500" b="1">
                <a:solidFill>
                  <a:srgbClr val="232323"/>
                </a:solidFill>
                <a:latin typeface="Calibri"/>
              </a:rPr>
              <a:t>1200 Wh  </a:t>
            </a:r>
            <a:r>
              <a:rPr sz="1500" b="0">
                <a:solidFill>
                  <a:srgbClr val="8A8A84"/>
                </a:solidFill>
                <a:latin typeface="Calibri"/>
              </a:rPr>
              <a:t>12 V, 100 Ah LiFePO4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D4D4D"/>
                </a:solidFill>
                <a:latin typeface="Calibri"/>
              </a:rPr>
              <a:t>Standby  </a:t>
            </a:r>
            <a:r>
              <a:rPr sz="1500" b="1">
                <a:solidFill>
                  <a:srgbClr val="232323"/>
                </a:solidFill>
                <a:latin typeface="Calibri"/>
              </a:rPr>
              <a:t>1.7 W  </a:t>
            </a:r>
            <a:r>
              <a:rPr sz="1500" b="0">
                <a:solidFill>
                  <a:srgbClr val="8A8A84"/>
                </a:solidFill>
                <a:latin typeface="Calibri"/>
              </a:rPr>
              <a:t>particle board only, never off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D4D4D"/>
                </a:solidFill>
                <a:latin typeface="Calibri"/>
              </a:rPr>
              <a:t>Awake  </a:t>
            </a:r>
            <a:r>
              <a:rPr sz="1500" b="1">
                <a:solidFill>
                  <a:srgbClr val="232323"/>
                </a:solidFill>
                <a:latin typeface="Calibri"/>
              </a:rPr>
              <a:t>33.7 W  </a:t>
            </a:r>
            <a:r>
              <a:rPr sz="1500" b="0">
                <a:solidFill>
                  <a:srgbClr val="8A8A84"/>
                </a:solidFill>
                <a:latin typeface="Calibri"/>
              </a:rPr>
              <a:t>Jetson + cameras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828800"/>
            <a:ext cx="577900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AMEC BUOY  ·  BUDGET STILL OPEN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D4D4D"/>
                </a:solidFill>
                <a:latin typeface="Calibri"/>
              </a:rPr>
              <a:t>Jetson, P1 active  </a:t>
            </a:r>
            <a:r>
              <a:rPr sz="1500" b="1">
                <a:solidFill>
                  <a:srgbClr val="232323"/>
                </a:solidFill>
                <a:latin typeface="Calibri"/>
              </a:rPr>
              <a:t>18.6 W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D4D4D"/>
                </a:solidFill>
                <a:latin typeface="Calibri"/>
              </a:rPr>
              <a:t>Marine systems, duty-cycle adjusted  </a:t>
            </a:r>
            <a:r>
              <a:rPr sz="1500" b="1">
                <a:solidFill>
                  <a:srgbClr val="232323"/>
                </a:solidFill>
                <a:latin typeface="Calibri"/>
              </a:rPr>
              <a:t>71.4 W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D4D4D"/>
                </a:solidFill>
                <a:latin typeface="Calibri"/>
              </a:rPr>
              <a:t>Active-phase total  </a:t>
            </a:r>
            <a:r>
              <a:rPr sz="1500" b="1">
                <a:solidFill>
                  <a:srgbClr val="232323"/>
                </a:solidFill>
                <a:latin typeface="Calibri"/>
              </a:rPr>
              <a:t>90.0 W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4D4D4D"/>
                </a:solidFill>
                <a:latin typeface="Calibri"/>
              </a:rPr>
              <a:t>Battery + solar sizing  </a:t>
            </a:r>
            <a:r>
              <a:rPr sz="1500" b="1">
                <a:solidFill>
                  <a:srgbClr val="C0392B"/>
                </a:solidFill>
                <a:latin typeface="Calibri"/>
              </a:rPr>
              <a:t>unresolved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279392"/>
            <a:ext cx="110642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Corrected 8 Sep: </a:t>
            </a:r>
            <a:r>
              <a:rPr sz="1500" b="0">
                <a:solidFill>
                  <a:srgbClr val="4D4D4D"/>
                </a:solidFill>
                <a:latin typeface="Calibri"/>
              </a:rPr>
              <a:t>33.7 W was labelled “the camera”. It is the whole package awake. A Jetson alone draws around 15 W and a camera never more than 5 to 6 W, so a 33.7 W camera was never possible. 1.7 W was labelled “Jetson + router”; it is the particle board alone, the cell link that stays awake so the rest can be switched on remotely.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8A84"/>
                </a:solidFill>
                <a:latin typeface="Calibri"/>
              </a:rPr>
              <a:t>All four IMTA values measured and confirmed against the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SLIDE 2  ·  CORE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32323"/>
                </a:solidFill>
                <a:latin typeface="Calibri"/>
              </a:rPr>
              <a:t>Same panel, same system. Only the site changes.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36192"/>
            <a:ext cx="11064240" cy="20320"/>
          </a:xfrm>
          <a:prstGeom prst="rect">
            <a:avLst/>
          </a:prstGeom>
          <a:solidFill>
            <a:srgbClr val="D9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" y="1828800"/>
          <a:ext cx="76809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03920" y="1828800"/>
            <a:ext cx="312724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HOW TO READ IT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Fixed: a 100 W panel, 1.7 W standby, 33.7 W package.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Varying: the site.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Out comes hours per day the payload can stay awake.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232323"/>
                </a:solidFill>
                <a:latin typeface="Calibri"/>
              </a:rPr>
              <a:t>Nearly 3x the uptime </a:t>
            </a:r>
            <a:r>
              <a:rPr sz="1400" b="0">
                <a:solidFill>
                  <a:srgbClr val="4D4D4D"/>
                </a:solidFill>
                <a:latin typeface="Calibri"/>
              </a:rPr>
              <a:t>from the same hardware, purely from latitude and weather.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Flip it for procurement: to buy Anchorage back up to Hawaii's uptime, you fit roughly a 150 W panel.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8A84"/>
                </a:solidFill>
                <a:latin typeface="Calibri"/>
              </a:rPr>
              <a:t>hours awake = (100 W × sun hours × 0.85 derate  −  1.7 W × 24 h) / 33.7 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SLIDE 3  ·  INNER MANTLE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32323"/>
                </a:solidFill>
                <a:latin typeface="Calibri"/>
              </a:rPr>
              <a:t>Given those numbers, how do you divide the power?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36192"/>
            <a:ext cx="11064240" cy="20320"/>
          </a:xfrm>
          <a:prstGeom prst="rect">
            <a:avLst/>
          </a:prstGeom>
          <a:solidFill>
            <a:srgbClr val="D9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1883664"/>
            <a:ext cx="384048" cy="384048"/>
          </a:xfrm>
          <a:prstGeom prst="ellipse">
            <a:avLst/>
          </a:prstGeom>
          <a:solidFill>
            <a:srgbClr val="0E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82880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Read battery and tomorrow's forecast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600 Wh in the pack, 9.6 W average forecast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706624"/>
            <a:ext cx="384048" cy="384048"/>
          </a:xfrm>
          <a:prstGeom prst="ellipse">
            <a:avLst/>
          </a:prstGeom>
          <a:solidFill>
            <a:srgbClr val="0E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65176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Does the forecast clear standby plus margin?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9.6 W  &gt;  1.7 W + 5 W margin  →  yes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529584"/>
            <a:ext cx="384048" cy="3840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47472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If no: stay in standby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package duty 0%, ride the battery down and wait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352544"/>
            <a:ext cx="384048" cy="384048"/>
          </a:xfrm>
          <a:prstGeom prst="ellipse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9768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If yes: allocate by priority, standby paid first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9.6 − 1.7  =  7.9 W left to spend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5175504"/>
            <a:ext cx="384048" cy="384048"/>
          </a:xfrm>
          <a:prstGeom prst="ellipse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512064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Divide by what the package needs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7.9 / 33.7  =  23% of the day, about 5.5 hours awake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310128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THE KNOB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232323"/>
                </a:solidFill>
                <a:latin typeface="Calibri"/>
              </a:rPr>
              <a:t>The 5 W safety margin is the tuning parameter.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Raise it and the system gets conservative and wastes sun.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Lower it and you get more data and more risk.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0392B"/>
                </a:solidFill>
                <a:latin typeface="Calibri"/>
              </a:rPr>
              <a:t>Right now it is set by judgment, not derived from anything.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8A84"/>
                </a:solidFill>
                <a:latin typeface="Calibri"/>
              </a:rPr>
              <a:t>Runs once every morning.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SLIDE 4  ·  OUTER MANTLE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32323"/>
                </a:solidFill>
                <a:latin typeface="Calibri"/>
              </a:rPr>
              <a:t>Can the schedule see tomorrow coming?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36192"/>
            <a:ext cx="11064240" cy="20320"/>
          </a:xfrm>
          <a:prstGeom prst="rect">
            <a:avLst/>
          </a:prstGeom>
          <a:solidFill>
            <a:srgbClr val="D9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7223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ACT 1   </a:t>
            </a:r>
            <a:r>
              <a:rPr sz="1600" b="1">
                <a:solidFill>
                  <a:srgbClr val="232323"/>
                </a:solidFill>
                <a:latin typeface="Calibri"/>
              </a:rPr>
              <a:t>The dumbest model won, and that was the clue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D4D4D"/>
                </a:solidFill>
                <a:latin typeface="Calibri"/>
              </a:rPr>
              <a:t>Held out only the last 48 hours. “Just repeat yesterday” looked near perfect. That was leakage: the 24-hour lag features it was scored on still reached into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246120"/>
            <a:ext cx="7223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2F7D4F"/>
                </a:solidFill>
                <a:latin typeface="Calibri"/>
              </a:rPr>
              <a:t>ACT 2   </a:t>
            </a:r>
            <a:r>
              <a:rPr sz="1600" b="1">
                <a:solidFill>
                  <a:srgbClr val="232323"/>
                </a:solidFill>
                <a:latin typeface="Calibri"/>
              </a:rPr>
              <a:t>Rebuilt with a strict 28-day train / 7-day test split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D4D4D"/>
                </a:solidFill>
                <a:latin typeface="Calibri"/>
              </a:rPr>
              <a:t>Eleven models. The ranking flipped completely. LSTM wins at 0.93 W mean absolute error, naive baselines fall to the bottom where they belong.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663440"/>
            <a:ext cx="72237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E4A63"/>
                </a:solidFill>
                <a:latin typeface="Calibri"/>
              </a:rPr>
              <a:t>ACT 3   </a:t>
            </a:r>
            <a:r>
              <a:rPr sz="1600" b="1">
                <a:solidFill>
                  <a:srgbClr val="232323"/>
                </a:solidFill>
                <a:latin typeface="Calibri"/>
              </a:rPr>
              <a:t>I was never forecasting sunlight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D4D4D"/>
                </a:solidFill>
                <a:latin typeface="Calibri"/>
              </a:rPr>
              <a:t>The target was panel watts, the power arriving at the battery, which curtailment caps once the battery is full. Closer to a load forecast than a solar forecast.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584448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THE ACTUAL FINDING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232323"/>
                </a:solidFill>
                <a:latin typeface="Calibri"/>
              </a:rPr>
              <a:t>8 classical models landed within 0.95 to 1.23 W of each other.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The spread between completely different model families was smaller than the spread one change to the data split opened up.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0E4A63"/>
                </a:solidFill>
                <a:latin typeface="Calibri"/>
              </a:rPr>
              <a:t>Model choice barely moved the number. Data composition moved it a lot.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Which leaves the real question: solar and battery state cannot be separated, so the honest target is a joint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SLIDE 4  ·  OUTER MANTLE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32323"/>
                </a:solidFill>
                <a:latin typeface="Calibri"/>
              </a:rPr>
              <a:t>The verified 11-model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36192"/>
            <a:ext cx="11064240" cy="20320"/>
          </a:xfrm>
          <a:prstGeom prst="rect">
            <a:avLst/>
          </a:prstGeom>
          <a:solidFill>
            <a:srgbClr val="D9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" y="1828800"/>
          <a:ext cx="76809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03920" y="1828800"/>
            <a:ext cx="312724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LOWER IS BETTER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D4D4D"/>
                </a:solidFill>
                <a:latin typeface="Calibri"/>
              </a:rPr>
              <a:t>LSTM  </a:t>
            </a:r>
            <a:r>
              <a:rPr sz="1500" b="1">
                <a:solidFill>
                  <a:srgbClr val="2F7D4F"/>
                </a:solidFill>
                <a:latin typeface="Calibri"/>
              </a:rPr>
              <a:t>0.93 W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D4D4D"/>
                </a:solidFill>
                <a:latin typeface="Calibri"/>
              </a:rPr>
              <a:t>Classical ML  </a:t>
            </a:r>
            <a:r>
              <a:rPr sz="1500" b="1">
                <a:solidFill>
                  <a:srgbClr val="232323"/>
                </a:solidFill>
                <a:latin typeface="Calibri"/>
              </a:rPr>
              <a:t>0.95 to 1.23 W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D4D4D"/>
                </a:solidFill>
                <a:latin typeface="Calibri"/>
              </a:rPr>
              <a:t>Prophet  </a:t>
            </a:r>
            <a:r>
              <a:rPr sz="1500" b="1">
                <a:solidFill>
                  <a:srgbClr val="232323"/>
                </a:solidFill>
                <a:latin typeface="Calibri"/>
              </a:rPr>
              <a:t>3.58 W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4D4D4D"/>
                </a:solidFill>
                <a:latin typeface="Calibri"/>
              </a:rPr>
              <a:t>Naive  </a:t>
            </a:r>
            <a:r>
              <a:rPr sz="1500" b="1">
                <a:solidFill>
                  <a:srgbClr val="C0392B"/>
                </a:solidFill>
                <a:latin typeface="Calibri"/>
              </a:rPr>
              <a:t>3.8 to 19.3 W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For scale: 0.93 W against an 85 W midday peak is about one percent, thinner than the plotted line itself.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8A84"/>
                </a:solidFill>
                <a:latin typeface="Calibri"/>
              </a:rPr>
              <a:t>28 days to train, 7 unseen days to grade on. The split is what changed the ranking.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SLIDE 5  ·  CRUST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32323"/>
                </a:solidFill>
                <a:latin typeface="Calibri"/>
              </a:rPr>
              <a:t>What actually stops the battery from dying?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36192"/>
            <a:ext cx="11064240" cy="20320"/>
          </a:xfrm>
          <a:prstGeom prst="rect">
            <a:avLst/>
          </a:prstGeom>
          <a:solidFill>
            <a:srgbClr val="D9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39319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IT IS NOT HARDWARE</a:t>
            </a:r>
          </a:p>
          <a:p>
            <a:pPr algn="l">
              <a:spcAft>
                <a:spcPts val="1200"/>
              </a:spcAft>
            </a:pPr>
            <a:r>
              <a:rPr sz="1450" b="0" i="0">
                <a:solidFill>
                  <a:srgbClr val="4D4D4D"/>
                </a:solidFill>
                <a:latin typeface="Calibri"/>
              </a:rPr>
              <a:t>There is no protection circuit doing this. It is a rule inside the scheduler.</a:t>
            </a:r>
          </a:p>
          <a:p>
            <a:pPr algn="l">
              <a:spcAft>
                <a:spcPts val="1400"/>
              </a:spcAft>
            </a:pPr>
            <a:r>
              <a:rPr sz="1450" b="0" i="0">
                <a:solidFill>
                  <a:srgbClr val="4D4D4D"/>
                </a:solidFill>
                <a:latin typeface="Calibri"/>
              </a:rPr>
              <a:t>Before committing to any duty cycle, it simulates the battery forward hour by hour and refuses to output a schedule that crosses the floor. It does not care what the forecast said.</a:t>
            </a:r>
          </a:p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232323"/>
                </a:solidFill>
                <a:latin typeface="Calibri"/>
              </a:rPr>
              <a:t>Battery next hour =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    battery now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    + solar in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    − standby (1.7 W)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4D4D4D"/>
                </a:solidFill>
                <a:latin typeface="Calibri"/>
              </a:rPr>
              <a:t>    − (duty × package 33.7 W)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2F7D4F"/>
                </a:solidFill>
                <a:latin typeface="Calibri"/>
              </a:rPr>
              <a:t>Across all 41 days of telemetry, no schedule ever crossed the floor.</a:t>
            </a:r>
          </a:p>
        </p:txBody>
      </p:sp>
      <p:pic>
        <p:nvPicPr>
          <p:cNvPr id="5" name="Picture 4" descr="battery_solar_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395728"/>
            <a:ext cx="6922008" cy="25604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8A84"/>
                </a:solidFill>
                <a:latin typeface="Calibri"/>
              </a:rPr>
              <a:t>Real telemetry: battery voltage holds a flat plateau near float almost the entire deployment. That plateau is the floor holding. The two sharp drops are what it exists to catch.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SLIDE 6  ·  SURFACE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32323"/>
                </a:solidFill>
                <a:latin typeface="Calibri"/>
              </a:rPr>
              <a:t>One dip, two completely different causes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36192"/>
            <a:ext cx="11064240" cy="20320"/>
          </a:xfrm>
          <a:prstGeom prst="rect">
            <a:avLst/>
          </a:prstGeom>
          <a:solidFill>
            <a:srgbClr val="D9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ily_harvest_diagnosis_corr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874519"/>
            <a:ext cx="5806511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874519"/>
            <a:ext cx="3630168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GULF COAST BUOY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232323"/>
                </a:solidFill>
                <a:latin typeface="Calibri"/>
              </a:rPr>
              <a:t>First read: </a:t>
            </a:r>
            <a:r>
              <a:rPr sz="1400" b="0">
                <a:solidFill>
                  <a:srgbClr val="4D4D4D"/>
                </a:solidFill>
                <a:latin typeface="Calibri"/>
              </a:rPr>
              <a:t>roughly 60% panel degradation. Fouling or wear. That held for weeks.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2F7D4F"/>
                </a:solidFill>
                <a:latin typeface="Calibri"/>
              </a:rPr>
              <a:t>Actually: </a:t>
            </a:r>
            <a:r>
              <a:rPr sz="1400" b="0">
                <a:solidFill>
                  <a:srgbClr val="4D4D4D"/>
                </a:solidFill>
                <a:latin typeface="Calibri"/>
              </a:rPr>
              <a:t>curtailment. The controller backing off because the battery was already full. Confirmed against its own state codes cycling bulk, absorption, float, daily.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Hidden inside it: </a:t>
            </a:r>
            <a:r>
              <a:rPr sz="1400" b="0">
                <a:solidFill>
                  <a:srgbClr val="4D4D4D"/>
                </a:solidFill>
                <a:latin typeface="Calibri"/>
              </a:rPr>
              <a:t>a genuine 8-day outage, 25 June to 2 July. State pinned at Off for 100% of those minutes, never charging, and never logging a fault code.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32323"/>
                </a:solidFill>
                <a:latin typeface="Calibri"/>
              </a:rPr>
              <a:t>One explanation had been covering for the other.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SLIDE 6  ·  SURFACE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32323"/>
                </a:solidFill>
                <a:latin typeface="Calibri"/>
              </a:rPr>
              <a:t>Second site, different hardware, same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36192"/>
            <a:ext cx="11064240" cy="20320"/>
          </a:xfrm>
          <a:prstGeom prst="rect">
            <a:avLst/>
          </a:prstGeom>
          <a:solidFill>
            <a:srgbClr val="D9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st_harvest_vs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874519"/>
            <a:ext cx="6465354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01000" y="1874519"/>
            <a:ext cx="3630168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12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HAWAII ISLAND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232323"/>
                </a:solidFill>
                <a:latin typeface="Calibri"/>
              </a:rPr>
              <a:t>Harvest flat at 180 to 240 Wh/day </a:t>
            </a:r>
            <a:r>
              <a:rPr sz="1400" b="0">
                <a:solidFill>
                  <a:srgbClr val="4D4D4D"/>
                </a:solidFill>
                <a:latin typeface="Calibri"/>
              </a:rPr>
              <a:t>while cloud cover swung from 26% to 93%.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2F7D4F"/>
                </a:solidFill>
                <a:latin typeface="Calibri"/>
              </a:rPr>
              <a:t>Harvest decoupled from weather is the curtailment signature. </a:t>
            </a:r>
            <a:r>
              <a:rPr sz="1400" b="0">
                <a:solidFill>
                  <a:srgbClr val="4D4D4D"/>
                </a:solidFill>
                <a:latin typeface="Calibri"/>
              </a:rPr>
              <a:t>It reproduced on hardware I had never touched.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Then a two-day collapse </a:t>
            </a:r>
            <a:r>
              <a:rPr sz="1400" b="0">
                <a:solidFill>
                  <a:srgbClr val="4D4D4D"/>
                </a:solidFill>
                <a:latin typeface="Calibri"/>
              </a:rPr>
              <a:t>lining up exactly with a wind spike. The panel had physically torn off its mount.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32323"/>
                </a:solidFill>
                <a:latin typeface="Calibri"/>
              </a:rPr>
              <a:t>I could see the anomaly. I could not have told you the cause. Someone who could see the roof told 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SLIDE 7  ·  CORRECTIONS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32323"/>
                </a:solidFill>
                <a:latin typeface="Calibri"/>
              </a:rPr>
              <a:t>Five things I had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36192"/>
            <a:ext cx="11064240" cy="20320"/>
          </a:xfrm>
          <a:prstGeom prst="rect">
            <a:avLst/>
          </a:prstGeom>
          <a:solidFill>
            <a:srgbClr val="D9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1600200" cy="566928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33.7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810512"/>
            <a:ext cx="9281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4D4D4D"/>
                </a:solidFill>
                <a:latin typeface="Calibri"/>
              </a:rPr>
              <a:t>Was labelled “the camera”. It is the whole package awake, Jetson and cameras together. A Jetson alone draws around 15 W and a camera never more than 5 to 6 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578608"/>
            <a:ext cx="1600200" cy="566928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1.7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560320"/>
            <a:ext cx="9281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4D4D4D"/>
                </a:solidFill>
                <a:latin typeface="Calibri"/>
              </a:rPr>
              <a:t>Was labelled “Jetson + router”. It is the particle board alone, the cell link that stays awake so the rest can be switched on remotely.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28415"/>
            <a:ext cx="1600200" cy="566928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Panel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310127"/>
            <a:ext cx="9281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4D4D4D"/>
                </a:solidFill>
                <a:latin typeface="Calibri"/>
              </a:rPr>
              <a:t>Read as ~60% degradation. It was curtailment, with a genuine 8-day outage hiding inside the same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78224"/>
            <a:ext cx="1600200" cy="566928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Naive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059936"/>
            <a:ext cx="9281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4D4D4D"/>
                </a:solidFill>
                <a:latin typeface="Calibri"/>
              </a:rPr>
              <a:t>“Just repeat yesterday” looked near perfect. That was leakage in the train/test split, not a real result.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828032"/>
            <a:ext cx="1600200" cy="566928"/>
          </a:xfrm>
          <a:prstGeom prst="roundRect">
            <a:avLst/>
          </a:prstGeom>
          <a:solidFill>
            <a:srgbClr val="FBEE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Solar 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809744"/>
            <a:ext cx="9281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4D4D4D"/>
                </a:solidFill>
                <a:latin typeface="Calibri"/>
              </a:rPr>
              <a:t>I thought I was forecasting sun. I was forecasting panel watts, which curtailment caps once the battery tops 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632704"/>
            <a:ext cx="11064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232323"/>
                </a:solidFill>
                <a:latin typeface="Calibri"/>
              </a:rPr>
              <a:t>Four of those five were caught by someone who could see the hardware. </a:t>
            </a:r>
            <a:r>
              <a:rPr sz="1450" b="0">
                <a:solidFill>
                  <a:srgbClr val="4D4D4D"/>
                </a:solidFill>
                <a:latin typeface="Calibri"/>
              </a:rPr>
              <a:t>Not by better modelling. The fifth I caught by re-checking my own split. Remote diagnosis gets you a short list of candidates, not an answer. The last step is always a person who was there.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4A63"/>
                </a:solidFill>
                <a:latin typeface="Calibri"/>
              </a:rPr>
              <a:t>SLIDE 8  ·  LATER RESEARCH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232323"/>
                </a:solidFill>
                <a:latin typeface="Calibri"/>
              </a:rPr>
              <a:t>One open question per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36192"/>
            <a:ext cx="11064240" cy="20320"/>
          </a:xfrm>
          <a:prstGeom prst="rect">
            <a:avLst/>
          </a:prstGeom>
          <a:solidFill>
            <a:srgbClr val="D9D9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1810512"/>
            <a:ext cx="128016" cy="603504"/>
          </a:xfrm>
          <a:prstGeom prst="roundRect">
            <a:avLst/>
          </a:prstGeom>
          <a:solidFill>
            <a:srgbClr val="7A1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76479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32323"/>
                </a:solidFill>
                <a:latin typeface="Calibri"/>
              </a:rPr>
              <a:t>Core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D4D4D"/>
                </a:solidFill>
                <a:latin typeface="Calibri"/>
              </a:rPr>
              <a:t>Validate the sizing formula against a real AMEC install, and measure sonar and UV-C in the field instead of off a datasheet.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532888"/>
            <a:ext cx="128016" cy="603504"/>
          </a:xfrm>
          <a:prstGeom prst="roundRect">
            <a:avLst/>
          </a:prstGeom>
          <a:solidFill>
            <a:srgbClr val="C9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48716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32323"/>
                </a:solidFill>
                <a:latin typeface="Calibri"/>
              </a:rPr>
              <a:t>Inner mantle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D4D4D"/>
                </a:solidFill>
                <a:latin typeface="Calibri"/>
              </a:rPr>
              <a:t>Move the LP from safety-only to primary scheduler, and extend the priority formula past two payloads.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255264"/>
            <a:ext cx="128016" cy="603504"/>
          </a:xfrm>
          <a:prstGeom prst="roundRect">
            <a:avLst/>
          </a:prstGeom>
          <a:solidFill>
            <a:srgbClr val="E2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209544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32323"/>
                </a:solidFill>
                <a:latin typeface="Calibri"/>
              </a:rPr>
              <a:t>Outer mantle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D4D4D"/>
                </a:solidFill>
                <a:latin typeface="Calibri"/>
              </a:rPr>
              <a:t>Predict solar and battery state together, not solar alone. Ground-truth irradiance as one input, battery state as the other, then test whether the joint model actually schedules better than either half.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977639"/>
            <a:ext cx="128016" cy="603504"/>
          </a:xfrm>
          <a:prstGeom prst="roundRect">
            <a:avLst/>
          </a:prstGeom>
          <a:solidFill>
            <a:srgbClr val="C9B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931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32323"/>
                </a:solidFill>
                <a:latin typeface="Calibri"/>
              </a:rPr>
              <a:t>Crust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D4D4D"/>
                </a:solidFill>
                <a:latin typeface="Calibri"/>
              </a:rPr>
              <a:t>Grow the safety simulation into a real twin: thermal model, degradation model, running live on a deployed buoy rather than in replay.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700016"/>
            <a:ext cx="128016" cy="603504"/>
          </a:xfrm>
          <a:prstGeom prst="roundRect">
            <a:avLst/>
          </a:prstGeom>
          <a:solidFill>
            <a:srgbClr val="8F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654296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32323"/>
                </a:solidFill>
                <a:latin typeface="Calibri"/>
              </a:rPr>
              <a:t>Surface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D4D4D"/>
                </a:solidFill>
                <a:latin typeface="Calibri"/>
              </a:rPr>
              <a:t>Both Hawaii hardware questions are closed. Next: can curtailment-versus-fault become predictive, flagging a fault before it fully develops?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422392"/>
            <a:ext cx="128016" cy="603504"/>
          </a:xfrm>
          <a:prstGeom prst="roundRect">
            <a:avLst/>
          </a:prstGeom>
          <a:solidFill>
            <a:srgbClr val="1E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376672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32323"/>
                </a:solidFill>
                <a:latin typeface="Calibri"/>
              </a:rPr>
              <a:t>ML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D4D4D"/>
                </a:solidFill>
                <a:latin typeface="Calibri"/>
              </a:rPr>
              <a:t>Get the forecast model running live on-device, not just as an offline benchmark.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72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4A63"/>
                </a:solidFill>
                <a:latin typeface="Calibri"/>
              </a:rPr>
              <a:t>If you had to fund one of these, which one?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6596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300" b="1" i="0">
                <a:solidFill>
                  <a:srgbClr val="9FD6EC"/>
                </a:solidFill>
                <a:latin typeface="Calibri"/>
              </a:rPr>
              <a:t>CLOSING</a:t>
            </a:r>
          </a:p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surface kept correcting the core.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CFE8F2"/>
                </a:solidFill>
                <a:latin typeface="Calibri"/>
              </a:rPr>
              <a:t>A core fact, a schedule built on it, a forecast layered on the schedule, a floor protecting all of it, and a surface where the real world gets the final word.</a:t>
            </a:r>
          </a:p>
          <a:p>
            <a:pPr algn="l">
              <a:spcAft>
                <a:spcPts val="2600"/>
              </a:spcAft>
            </a:pPr>
            <a:r>
              <a:rPr sz="1900" b="0" i="0">
                <a:solidFill>
                  <a:srgbClr val="CFE8F2"/>
                </a:solidFill>
                <a:latin typeface="Calibri"/>
              </a:rPr>
              <a:t>Every time I went out to the real deployment, it sent me back down to fix something I thought was settled. That is the part I did not expect, and the part I will carry.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FD6EC"/>
                </a:solidFill>
                <a:latin typeface="Calibri"/>
              </a:rPr>
              <a:t>Thank you: MarineSitu and ORISE, Paul for the guidance, Mitchell for the technical framing, and Corey and Tony for telling me what the hardware was doing when the telemetry could not.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