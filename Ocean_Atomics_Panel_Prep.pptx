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naming the frame: this is a concept walkthrough, not a claim about your design. Twelve minutes, then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idea to land: the marine problem is a plant whose boundary conditions move. Say it in one sentence and let it 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choice gets a reason, and each reason is proven-technology or repeatability. Do not pitch novelty.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whiteboard slide. Draw it in this order and name the pressure and temperature at each interface. Then stop and let them pick a branch.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assumptions before numbers. If they change the power rating, redo it live — that is the skill being 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apologize for 30%. Reframe the objective function: volume, mass, availability — not heat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limits, and what erodes each. If they push, name the four protection inputs: power tilt, low flow, high inlet temperature, low pressure.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of thumb: 7% at trip, factor of ten per time decade. The design question is always the unattended grace period.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differentiates you. Four items, in order of how much they worry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heat sink is free and hostile. Name the tradeoff rather than picking a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questions, not conclusions. This signals you know the boundary of your own analysis and invites them into the technical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on fit, then hand it back to them. Do not oversell.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924969"/>
            <a:ext cx="17183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TECHNICAL PANEL · THERMAL FLUIDS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3648869"/>
            <a:ext cx="15452136" cy="2375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235"/>
              </a:lnSpc>
              <a:buNone/>
            </a:pPr>
            <a:r>
              <a:rPr lang="en-US" sz="8850" b="1" spc="-177" kern="0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concepts for a marine PWR</a:t>
            </a:r>
            <a:endParaRPr lang="en-US" sz="8850" dirty="0"/>
          </a:p>
        </p:txBody>
      </p:sp>
      <p:sp>
        <p:nvSpPr>
          <p:cNvPr id="4" name="Text 2"/>
          <p:cNvSpPr/>
          <p:nvPr/>
        </p:nvSpPr>
        <p:spPr>
          <a:xfrm>
            <a:off x="1333500" y="6367661"/>
            <a:ext cx="8428354" cy="1032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90"/>
              </a:lnSpc>
              <a:buNone/>
            </a:pPr>
            <a:r>
              <a:rPr lang="en-US" sz="2700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standardized two-loop plant, and the four ways a ship makes it harder than a site.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333500" y="9150350"/>
            <a:ext cx="197773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7D8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OCEAN ATOMICS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588643" y="9150350"/>
            <a:ext cx="532475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7D8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 FREEMAN · B. HANSON · T. METZGER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886527" y="9150350"/>
            <a:ext cx="152142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7D8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2026-09-17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4820900" y="952500"/>
            <a:ext cx="2133600" cy="2133600"/>
          </a:xfrm>
          <a:prstGeom prst="ellipse">
            <a:avLst/>
          </a:prstGeom>
          <a:ln w="19050">
            <a:solidFill>
              <a:srgbClr val="383F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297150" y="1428750"/>
            <a:ext cx="1181100" cy="1181100"/>
          </a:xfrm>
          <a:prstGeom prst="ellipse">
            <a:avLst/>
          </a:prstGeom>
          <a:ln w="19050">
            <a:solidFill>
              <a:srgbClr val="2D334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216051"/>
            <a:ext cx="171831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FRAMING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2819301"/>
            <a:ext cx="12440236" cy="2513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206"/>
              </a:lnSpc>
              <a:buNone/>
            </a:pPr>
            <a:r>
              <a:rPr lang="en-US" sz="5700" b="1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land plant is optimized. A ship plant is bounded by things that move.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333500" y="5828308"/>
            <a:ext cx="15621000" cy="2242542"/>
          </a:xfrm>
          <a:prstGeom prst="rect">
            <a:avLst/>
          </a:prstGeom>
          <a:solidFill>
            <a:srgbClr val="383F4D"/>
          </a:solidFill>
          <a:ln w="6350">
            <a:solidFill>
              <a:srgbClr val="383F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39850" y="5834658"/>
            <a:ext cx="3894931" cy="2229842"/>
          </a:xfrm>
          <a:prstGeom prst="rect">
            <a:avLst/>
          </a:prstGeom>
          <a:solidFill>
            <a:srgbClr val="1E2228"/>
          </a:solidFill>
          <a:ln/>
        </p:spPr>
      </p:sp>
      <p:sp>
        <p:nvSpPr>
          <p:cNvPr id="6" name="Text 4"/>
          <p:cNvSpPr/>
          <p:nvPr/>
        </p:nvSpPr>
        <p:spPr>
          <a:xfrm>
            <a:off x="1644650" y="6177558"/>
            <a:ext cx="361386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E8A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GRAVITY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4650" y="6603008"/>
            <a:ext cx="3383891" cy="1156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and effective elevation change with heel and roll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244307" y="5834658"/>
            <a:ext cx="3894931" cy="2229842"/>
          </a:xfrm>
          <a:prstGeom prst="rect">
            <a:avLst/>
          </a:prstGeom>
          <a:solidFill>
            <a:srgbClr val="1E2228"/>
          </a:solidFill>
          <a:ln/>
        </p:spPr>
      </p:sp>
      <p:sp>
        <p:nvSpPr>
          <p:cNvPr id="9" name="Text 7"/>
          <p:cNvSpPr/>
          <p:nvPr/>
        </p:nvSpPr>
        <p:spPr>
          <a:xfrm>
            <a:off x="5549107" y="6177558"/>
            <a:ext cx="361386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E8A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HEAT SINK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549107" y="6603008"/>
            <a:ext cx="3383891" cy="1156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Seawater from 0 to 32 °C, fouling, air ingestion in heavy seas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148763" y="5834658"/>
            <a:ext cx="3894931" cy="2229842"/>
          </a:xfrm>
          <a:prstGeom prst="rect">
            <a:avLst/>
          </a:prstGeom>
          <a:solidFill>
            <a:srgbClr val="1E2228"/>
          </a:solidFill>
          <a:ln/>
        </p:spPr>
      </p:sp>
      <p:sp>
        <p:nvSpPr>
          <p:cNvPr id="12" name="Text 10"/>
          <p:cNvSpPr/>
          <p:nvPr/>
        </p:nvSpPr>
        <p:spPr>
          <a:xfrm>
            <a:off x="9453563" y="6177558"/>
            <a:ext cx="361386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E8A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453563" y="6603008"/>
            <a:ext cx="3383891" cy="1156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tank farm, no unlimited elevation, no long pipe runs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3053220" y="5834658"/>
            <a:ext cx="3894931" cy="2229842"/>
          </a:xfrm>
          <a:prstGeom prst="rect">
            <a:avLst/>
          </a:prstGeom>
          <a:solidFill>
            <a:srgbClr val="1E2228"/>
          </a:solidFill>
          <a:ln/>
        </p:spPr>
      </p:sp>
      <p:sp>
        <p:nvSpPr>
          <p:cNvPr id="15" name="Text 13"/>
          <p:cNvSpPr/>
          <p:nvPr/>
        </p:nvSpPr>
        <p:spPr>
          <a:xfrm>
            <a:off x="13358020" y="6177558"/>
            <a:ext cx="361386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E8A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358020" y="6603008"/>
            <a:ext cx="3383891" cy="1156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happens at sea or at one lifecycle yard, not on demand</a:t>
            </a:r>
            <a:endParaRPr lang="en-US" sz="20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461095"/>
            <a:ext cx="171831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ARCHITECTURE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2064345"/>
            <a:ext cx="17183100" cy="863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206"/>
              </a:lnSpc>
              <a:buNone/>
            </a:pPr>
            <a:r>
              <a:rPr lang="en-US" sz="5700" b="1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choices, each with one reason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333500" y="3384848"/>
            <a:ext cx="15621000" cy="5440958"/>
          </a:xfrm>
          <a:prstGeom prst="rect">
            <a:avLst/>
          </a:prstGeom>
          <a:solidFill>
            <a:srgbClr val="383F4D"/>
          </a:solidFill>
          <a:ln w="6350">
            <a:solidFill>
              <a:srgbClr val="383F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39850" y="3391198"/>
            <a:ext cx="7799388" cy="2709367"/>
          </a:xfrm>
          <a:prstGeom prst="rect">
            <a:avLst/>
          </a:prstGeom>
          <a:solidFill>
            <a:srgbClr val="1E2228"/>
          </a:solidFill>
          <a:ln/>
        </p:spPr>
      </p:sp>
      <p:sp>
        <p:nvSpPr>
          <p:cNvPr id="6" name="Text 4"/>
          <p:cNvSpPr/>
          <p:nvPr/>
        </p:nvSpPr>
        <p:spPr>
          <a:xfrm>
            <a:off x="1682750" y="3772198"/>
            <a:ext cx="7326996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loops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682750" y="4559598"/>
            <a:ext cx="7326996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Pressurized primary, saturated secondary, seawater sink. No intermediate loop — PWR chemistry does not need one and mass is the binding constraint.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8763" y="3391198"/>
            <a:ext cx="7799388" cy="2709367"/>
          </a:xfrm>
          <a:prstGeom prst="rect">
            <a:avLst/>
          </a:prstGeom>
          <a:solidFill>
            <a:srgbClr val="1E2228"/>
          </a:solidFill>
          <a:ln/>
        </p:spPr>
      </p:sp>
      <p:sp>
        <p:nvSpPr>
          <p:cNvPr id="9" name="Text 7"/>
          <p:cNvSpPr/>
          <p:nvPr/>
        </p:nvSpPr>
        <p:spPr>
          <a:xfrm>
            <a:off x="9491663" y="3772198"/>
            <a:ext cx="7326996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Integral layout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491663" y="4559598"/>
            <a:ext cx="7326996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generators and pressurizer inside the vessel. No large-bore primary piping means no large-break LOCA in the design basis.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339850" y="6110089"/>
            <a:ext cx="7799388" cy="2709367"/>
          </a:xfrm>
          <a:prstGeom prst="rect">
            <a:avLst/>
          </a:prstGeom>
          <a:solidFill>
            <a:srgbClr val="1E2228"/>
          </a:solidFill>
          <a:ln/>
        </p:spPr>
      </p:sp>
      <p:sp>
        <p:nvSpPr>
          <p:cNvPr id="12" name="Text 10"/>
          <p:cNvSpPr/>
          <p:nvPr/>
        </p:nvSpPr>
        <p:spPr>
          <a:xfrm>
            <a:off x="1682750" y="6491089"/>
            <a:ext cx="7326996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Turbo-electric drive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682750" y="7278489"/>
            <a:ext cx="7326996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Reactor holds steady load while the ship maneuvers, and the same plant drops into any nuclear-ready hull.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8763" y="6110089"/>
            <a:ext cx="7799388" cy="2709367"/>
          </a:xfrm>
          <a:prstGeom prst="rect">
            <a:avLst/>
          </a:prstGeom>
          <a:solidFill>
            <a:srgbClr val="1E2228"/>
          </a:solidFill>
          <a:ln/>
        </p:spPr>
      </p:sp>
      <p:sp>
        <p:nvSpPr>
          <p:cNvPr id="15" name="Text 13"/>
          <p:cNvSpPr/>
          <p:nvPr/>
        </p:nvSpPr>
        <p:spPr>
          <a:xfrm>
            <a:off x="9491663" y="6491089"/>
            <a:ext cx="7326996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Forced flow, passive backup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9491663" y="7278489"/>
            <a:ext cx="732699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Canned-motor pumps at power; a tall riser and elevated SG carry decay heat with nothing running.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471811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FLOW PATH — THREE LOOPS, THREE BARRIERS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036961"/>
            <a:ext cx="17602200" cy="7330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91"/>
              </a:lnSpc>
              <a:buNone/>
            </a:pPr>
            <a:r>
              <a:rPr lang="en-US" sz="4800" b="1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to propeller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3395464"/>
            <a:ext cx="1695450" cy="5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</a:t>
            </a:r>
            <a:pPr algn="l" indent="0" marL="0">
              <a:buNone/>
            </a:pPr>
            <a:r>
              <a:rPr lang="en-US" sz="1425" spc="165" kern="0" dirty="0">
                <a:solidFill>
                  <a:srgbClr val="7D8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12.5 MPa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2933700" y="3246239"/>
            <a:ext cx="2949972" cy="857250"/>
          </a:xfrm>
          <a:prstGeom prst="rect">
            <a:avLst/>
          </a:prstGeom>
          <a:ln w="19050">
            <a:solidFill>
              <a:srgbClr val="6CC5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19450" y="3474839"/>
            <a:ext cx="246697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· 277→310 °C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055122" y="3458964"/>
            <a:ext cx="361950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C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12322" y="3246239"/>
            <a:ext cx="1219895" cy="857250"/>
          </a:xfrm>
          <a:prstGeom prst="rect">
            <a:avLst/>
          </a:prstGeom>
          <a:ln w="19050">
            <a:solidFill>
              <a:srgbClr val="6CC5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8072" y="3474839"/>
            <a:ext cx="72459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903666" y="3458964"/>
            <a:ext cx="361950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C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8360866" y="3246239"/>
            <a:ext cx="2253357" cy="857250"/>
          </a:xfrm>
          <a:prstGeom prst="rect">
            <a:avLst/>
          </a:prstGeom>
          <a:ln w="19050">
            <a:solidFill>
              <a:srgbClr val="6CC5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6616" y="3474839"/>
            <a:ext cx="17580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 tube side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785674" y="3458964"/>
            <a:ext cx="361950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C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1242874" y="3246239"/>
            <a:ext cx="2252861" cy="857250"/>
          </a:xfrm>
          <a:prstGeom prst="rect">
            <a:avLst/>
          </a:prstGeom>
          <a:ln w="19050">
            <a:solidFill>
              <a:srgbClr val="6CC5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28624" y="3474839"/>
            <a:ext cx="175756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Canned RCP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667184" y="3458964"/>
            <a:ext cx="352524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C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143000" y="4652764"/>
            <a:ext cx="1695450" cy="5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ADB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SECONDARY </a:t>
            </a:r>
            <a:pPr algn="l" indent="0" marL="0">
              <a:buNone/>
            </a:pPr>
            <a:r>
              <a:rPr lang="en-US" sz="1425" spc="165" kern="0" dirty="0">
                <a:solidFill>
                  <a:srgbClr val="7D8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 MPa sat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2933700" y="4503539"/>
            <a:ext cx="2716609" cy="857250"/>
          </a:xfrm>
          <a:prstGeom prst="rect">
            <a:avLst/>
          </a:prstGeom>
          <a:ln w="19050">
            <a:solidFill>
              <a:srgbClr val="383F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19450" y="4732139"/>
            <a:ext cx="222660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 shell · 258 °C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821760" y="4716264"/>
            <a:ext cx="361950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D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6278960" y="4503539"/>
            <a:ext cx="1913831" cy="857250"/>
          </a:xfrm>
          <a:prstGeom prst="rect">
            <a:avLst/>
          </a:prstGeom>
          <a:ln w="19050">
            <a:solidFill>
              <a:srgbClr val="383F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64710" y="4732139"/>
            <a:ext cx="141853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Separator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364240" y="4716264"/>
            <a:ext cx="361950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D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8821440" y="4503539"/>
            <a:ext cx="3080445" cy="857250"/>
          </a:xfrm>
          <a:prstGeom prst="rect">
            <a:avLst/>
          </a:prstGeom>
          <a:ln w="19050">
            <a:solidFill>
              <a:srgbClr val="383F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07190" y="4732139"/>
            <a:ext cx="260135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Turbine-generator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073335" y="4716264"/>
            <a:ext cx="361950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D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2530535" y="4503539"/>
            <a:ext cx="2958505" cy="857250"/>
          </a:xfrm>
          <a:prstGeom prst="rect">
            <a:avLst/>
          </a:prstGeom>
          <a:ln w="19050">
            <a:solidFill>
              <a:srgbClr val="383F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16285" y="4732139"/>
            <a:ext cx="24757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Condenser · 7 kPa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5660489" y="4716264"/>
            <a:ext cx="361950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D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1143000" y="5532239"/>
            <a:ext cx="2242443" cy="857250"/>
          </a:xfrm>
          <a:prstGeom prst="rect">
            <a:avLst/>
          </a:prstGeom>
          <a:ln w="19050">
            <a:solidFill>
              <a:srgbClr val="383F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28750" y="5760839"/>
            <a:ext cx="174714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pumps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3556893" y="5744964"/>
            <a:ext cx="352524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D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1143000" y="6938764"/>
            <a:ext cx="1695450" cy="5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E8A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SEAWATER </a:t>
            </a:r>
            <a:pPr algn="l" indent="0" marL="0">
              <a:buNone/>
            </a:pPr>
            <a:r>
              <a:rPr lang="en-US" sz="1425" spc="165" kern="0" dirty="0">
                <a:solidFill>
                  <a:srgbClr val="7D8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cycle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2933700" y="6789539"/>
            <a:ext cx="1886645" cy="857250"/>
          </a:xfrm>
          <a:prstGeom prst="rect">
            <a:avLst/>
          </a:prstGeom>
          <a:ln w="19050">
            <a:solidFill>
              <a:srgbClr val="383F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19450" y="7018139"/>
            <a:ext cx="139134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 chest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4991795" y="7002264"/>
            <a:ext cx="361950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D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5448995" y="6789539"/>
            <a:ext cx="1625501" cy="857250"/>
          </a:xfrm>
          <a:prstGeom prst="rect">
            <a:avLst/>
          </a:prstGeom>
          <a:ln w="19050">
            <a:solidFill>
              <a:srgbClr val="383F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34745" y="7018139"/>
            <a:ext cx="113020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Strainer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7245946" y="7002264"/>
            <a:ext cx="361950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D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40" name="Shape 38"/>
          <p:cNvSpPr/>
          <p:nvPr/>
        </p:nvSpPr>
        <p:spPr>
          <a:xfrm>
            <a:off x="7703146" y="6789539"/>
            <a:ext cx="2134195" cy="857250"/>
          </a:xfrm>
          <a:prstGeom prst="rect">
            <a:avLst/>
          </a:prstGeom>
          <a:ln w="19050">
            <a:solidFill>
              <a:srgbClr val="383F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88896" y="7018139"/>
            <a:ext cx="163889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 pumps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10008791" y="7002264"/>
            <a:ext cx="361950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D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43" name="Shape 41"/>
          <p:cNvSpPr/>
          <p:nvPr/>
        </p:nvSpPr>
        <p:spPr>
          <a:xfrm>
            <a:off x="10465991" y="6789539"/>
            <a:ext cx="3363417" cy="857250"/>
          </a:xfrm>
          <a:prstGeom prst="rect">
            <a:avLst/>
          </a:prstGeom>
          <a:ln w="19050">
            <a:solidFill>
              <a:srgbClr val="383F4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751741" y="7018139"/>
            <a:ext cx="289281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Condenser tube side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14000857" y="7002264"/>
            <a:ext cx="361950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D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46" name="Shape 44"/>
          <p:cNvSpPr/>
          <p:nvPr/>
        </p:nvSpPr>
        <p:spPr>
          <a:xfrm>
            <a:off x="14458057" y="6789539"/>
            <a:ext cx="2016224" cy="857250"/>
          </a:xfrm>
          <a:prstGeom prst="rect">
            <a:avLst/>
          </a:prstGeom>
          <a:ln w="19050">
            <a:solidFill>
              <a:srgbClr val="383F4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743807" y="7018139"/>
            <a:ext cx="152092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Overboard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1143000" y="8065889"/>
            <a:ext cx="16018912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D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SG tube wall is the second fission-product barrier. The condenser tube wall is the boundary against the sea. Both get continuous activity monitoring on the low-pressure side.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589286"/>
            <a:ext cx="171831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HEAT BALANCE · 120 MWT CLASS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2154436"/>
            <a:ext cx="17183100" cy="7330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91"/>
              </a:lnSpc>
              <a:buNone/>
            </a:pPr>
            <a:r>
              <a:rPr lang="en-US" sz="4800" b="1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equations get you every flow rate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333500" y="3268464"/>
            <a:ext cx="9182100" cy="5429250"/>
          </a:xfrm>
          <a:prstGeom prst="rect">
            <a:avLst/>
          </a:prstGeom>
          <a:ln w="6350">
            <a:solidFill>
              <a:srgbClr val="383F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36675" y="4039989"/>
            <a:ext cx="5685731" cy="9525"/>
          </a:xfrm>
          <a:prstGeom prst="rect">
            <a:avLst/>
          </a:prstGeom>
          <a:solidFill>
            <a:srgbClr val="2D3340"/>
          </a:solidFill>
          <a:ln/>
        </p:spPr>
      </p:sp>
      <p:sp>
        <p:nvSpPr>
          <p:cNvPr id="6" name="Text 4"/>
          <p:cNvSpPr/>
          <p:nvPr/>
        </p:nvSpPr>
        <p:spPr>
          <a:xfrm>
            <a:off x="1584325" y="3462139"/>
            <a:ext cx="5361003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thermal power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7022406" y="4039989"/>
            <a:ext cx="3490020" cy="9525"/>
          </a:xfrm>
          <a:prstGeom prst="rect">
            <a:avLst/>
          </a:prstGeom>
          <a:solidFill>
            <a:srgbClr val="2D3340"/>
          </a:solidFill>
          <a:ln/>
        </p:spPr>
      </p:sp>
      <p:sp>
        <p:nvSpPr>
          <p:cNvPr id="8" name="Text 6"/>
          <p:cNvSpPr/>
          <p:nvPr/>
        </p:nvSpPr>
        <p:spPr>
          <a:xfrm>
            <a:off x="7165355" y="3462139"/>
            <a:ext cx="309942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 MWt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1336675" y="4814689"/>
            <a:ext cx="5685731" cy="9525"/>
          </a:xfrm>
          <a:prstGeom prst="rect">
            <a:avLst/>
          </a:prstGeom>
          <a:solidFill>
            <a:srgbClr val="2D3340"/>
          </a:solidFill>
          <a:ln/>
        </p:spPr>
      </p:sp>
      <p:sp>
        <p:nvSpPr>
          <p:cNvPr id="10" name="Text 8"/>
          <p:cNvSpPr/>
          <p:nvPr/>
        </p:nvSpPr>
        <p:spPr>
          <a:xfrm>
            <a:off x="1584325" y="4236839"/>
            <a:ext cx="5361003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electric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7022406" y="4814689"/>
            <a:ext cx="3490020" cy="9525"/>
          </a:xfrm>
          <a:prstGeom prst="rect">
            <a:avLst/>
          </a:prstGeom>
          <a:solidFill>
            <a:srgbClr val="2D3340"/>
          </a:solidFill>
          <a:ln/>
        </p:spPr>
      </p:sp>
      <p:sp>
        <p:nvSpPr>
          <p:cNvPr id="12" name="Text 10"/>
          <p:cNvSpPr/>
          <p:nvPr/>
        </p:nvSpPr>
        <p:spPr>
          <a:xfrm>
            <a:off x="7165355" y="4236839"/>
            <a:ext cx="309942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38.0 MWe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336675" y="5589389"/>
            <a:ext cx="5685731" cy="9525"/>
          </a:xfrm>
          <a:prstGeom prst="rect">
            <a:avLst/>
          </a:prstGeom>
          <a:solidFill>
            <a:srgbClr val="2D3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584325" y="5011539"/>
            <a:ext cx="5361003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to the bus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7022406" y="5589389"/>
            <a:ext cx="3490020" cy="9525"/>
          </a:xfrm>
          <a:prstGeom prst="rect">
            <a:avLst/>
          </a:prstGeom>
          <a:solidFill>
            <a:srgbClr val="2D3340"/>
          </a:solidFill>
          <a:ln/>
        </p:spPr>
      </p:sp>
      <p:sp>
        <p:nvSpPr>
          <p:cNvPr id="16" name="Text 14"/>
          <p:cNvSpPr/>
          <p:nvPr/>
        </p:nvSpPr>
        <p:spPr>
          <a:xfrm>
            <a:off x="7165355" y="5011539"/>
            <a:ext cx="309942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36.0 MWe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1336675" y="6364089"/>
            <a:ext cx="5685731" cy="9525"/>
          </a:xfrm>
          <a:prstGeom prst="rect">
            <a:avLst/>
          </a:prstGeom>
          <a:solidFill>
            <a:srgbClr val="2D3340"/>
          </a:solidFill>
          <a:ln/>
        </p:spPr>
      </p:sp>
      <p:sp>
        <p:nvSpPr>
          <p:cNvPr id="18" name="Text 16"/>
          <p:cNvSpPr/>
          <p:nvPr/>
        </p:nvSpPr>
        <p:spPr>
          <a:xfrm>
            <a:off x="1584325" y="5786239"/>
            <a:ext cx="5361003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flow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7022406" y="6364089"/>
            <a:ext cx="3490020" cy="9525"/>
          </a:xfrm>
          <a:prstGeom prst="rect">
            <a:avLst/>
          </a:prstGeom>
          <a:solidFill>
            <a:srgbClr val="2D3340"/>
          </a:solidFill>
          <a:ln/>
        </p:spPr>
      </p:sp>
      <p:sp>
        <p:nvSpPr>
          <p:cNvPr id="20" name="Text 18"/>
          <p:cNvSpPr/>
          <p:nvPr/>
        </p:nvSpPr>
        <p:spPr>
          <a:xfrm>
            <a:off x="7165355" y="5786239"/>
            <a:ext cx="309942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661 kg/s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1336675" y="7138789"/>
            <a:ext cx="5685731" cy="9525"/>
          </a:xfrm>
          <a:prstGeom prst="rect">
            <a:avLst/>
          </a:prstGeom>
          <a:solidFill>
            <a:srgbClr val="2D3340"/>
          </a:solidFill>
          <a:ln/>
        </p:spPr>
      </p:sp>
      <p:sp>
        <p:nvSpPr>
          <p:cNvPr id="22" name="Text 20"/>
          <p:cNvSpPr/>
          <p:nvPr/>
        </p:nvSpPr>
        <p:spPr>
          <a:xfrm>
            <a:off x="1584325" y="6560939"/>
            <a:ext cx="5361003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flow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7022406" y="7138789"/>
            <a:ext cx="3490020" cy="9525"/>
          </a:xfrm>
          <a:prstGeom prst="rect">
            <a:avLst/>
          </a:prstGeom>
          <a:solidFill>
            <a:srgbClr val="2D3340"/>
          </a:solidFill>
          <a:ln/>
        </p:spPr>
      </p:sp>
      <p:sp>
        <p:nvSpPr>
          <p:cNvPr id="24" name="Text 22"/>
          <p:cNvSpPr/>
          <p:nvPr/>
        </p:nvSpPr>
        <p:spPr>
          <a:xfrm>
            <a:off x="7165355" y="6560939"/>
            <a:ext cx="309942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60.3 kg/s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1336675" y="7913489"/>
            <a:ext cx="5685731" cy="9525"/>
          </a:xfrm>
          <a:prstGeom prst="rect">
            <a:avLst/>
          </a:prstGeom>
          <a:solidFill>
            <a:srgbClr val="2D3340"/>
          </a:solidFill>
          <a:ln/>
        </p:spPr>
      </p:sp>
      <p:sp>
        <p:nvSpPr>
          <p:cNvPr id="26" name="Text 24"/>
          <p:cNvSpPr/>
          <p:nvPr/>
        </p:nvSpPr>
        <p:spPr>
          <a:xfrm>
            <a:off x="1584325" y="7335639"/>
            <a:ext cx="5361003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Condenser duty</a:t>
            </a:r>
            <a:endParaRPr lang="en-US" sz="2025" dirty="0"/>
          </a:p>
        </p:txBody>
      </p:sp>
      <p:sp>
        <p:nvSpPr>
          <p:cNvPr id="27" name="Shape 25"/>
          <p:cNvSpPr/>
          <p:nvPr/>
        </p:nvSpPr>
        <p:spPr>
          <a:xfrm>
            <a:off x="7022406" y="7913489"/>
            <a:ext cx="3490020" cy="9525"/>
          </a:xfrm>
          <a:prstGeom prst="rect">
            <a:avLst/>
          </a:prstGeom>
          <a:solidFill>
            <a:srgbClr val="2D3340"/>
          </a:solidFill>
          <a:ln/>
        </p:spPr>
      </p:sp>
      <p:sp>
        <p:nvSpPr>
          <p:cNvPr id="28" name="Text 26"/>
          <p:cNvSpPr/>
          <p:nvPr/>
        </p:nvSpPr>
        <p:spPr>
          <a:xfrm>
            <a:off x="7165355" y="7335639"/>
            <a:ext cx="309942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82.0 MWt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1584325" y="8110339"/>
            <a:ext cx="5361003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Seawater flow</a:t>
            </a:r>
            <a:endParaRPr lang="en-US" sz="2025" dirty="0"/>
          </a:p>
        </p:txBody>
      </p:sp>
      <p:sp>
        <p:nvSpPr>
          <p:cNvPr id="30" name="Text 28"/>
          <p:cNvSpPr/>
          <p:nvPr/>
        </p:nvSpPr>
        <p:spPr>
          <a:xfrm>
            <a:off x="7165355" y="8110339"/>
            <a:ext cx="309942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E8A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2.50 m³/s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11049000" y="3268464"/>
            <a:ext cx="649605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D8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1049000" y="3732014"/>
            <a:ext cx="5905500" cy="1597620"/>
          </a:xfrm>
          <a:prstGeom prst="rect">
            <a:avLst/>
          </a:prstGeom>
          <a:solidFill>
            <a:srgbClr val="191E24"/>
          </a:solidFill>
          <a:ln w="6350">
            <a:solidFill>
              <a:srgbClr val="2D33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341100" y="4005064"/>
            <a:ext cx="5498465" cy="108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7273"/>
              </a:lnSpc>
              <a:buNone/>
            </a:pPr>
            <a:r>
              <a:rPr lang="en-US" sz="1950" dirty="0">
                <a:solidFill>
                  <a:srgbClr val="ADB3BE"/>
                </a:solidFill>
                <a:highlight>
                  <a:srgbClr val="191E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ṁ = Q / (c</a:t>
            </a:r>
            <a:pPr algn="l" indent="0" marL="0">
              <a:lnSpc>
                <a:spcPct val="177273"/>
              </a:lnSpc>
              <a:buNone/>
            </a:pPr>
            <a:r>
              <a:rPr lang="en-US" sz="1625" baseline="-40000" dirty="0">
                <a:solidFill>
                  <a:srgbClr val="ADB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</a:t>
            </a:r>
            <a:pPr algn="l" indent="0" marL="0">
              <a:lnSpc>
                <a:spcPct val="177273"/>
              </a:lnSpc>
              <a:buNone/>
            </a:pPr>
            <a:r>
              <a:rPr lang="en-US" sz="1950" dirty="0">
                <a:solidFill>
                  <a:srgbClr val="ADB3BE"/>
                </a:solidFill>
                <a:highlight>
                  <a:srgbClr val="191E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ΔT) ṁ = Q / (h</a:t>
            </a:r>
            <a:pPr algn="l" indent="0" marL="0">
              <a:lnSpc>
                <a:spcPct val="177273"/>
              </a:lnSpc>
              <a:buNone/>
            </a:pPr>
            <a:r>
              <a:rPr lang="en-US" sz="1625" baseline="-40000" dirty="0">
                <a:solidFill>
                  <a:srgbClr val="ADB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</a:t>
            </a:r>
            <a:pPr algn="l" indent="0" marL="0">
              <a:lnSpc>
                <a:spcPct val="177273"/>
              </a:lnSpc>
              <a:buNone/>
            </a:pPr>
            <a:r>
              <a:rPr lang="en-US" sz="1950" dirty="0">
                <a:solidFill>
                  <a:srgbClr val="ADB3BE"/>
                </a:solidFill>
                <a:highlight>
                  <a:srgbClr val="191E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h</a:t>
            </a:r>
            <a:pPr algn="l" indent="0" marL="0">
              <a:lnSpc>
                <a:spcPct val="177273"/>
              </a:lnSpc>
              <a:buNone/>
            </a:pPr>
            <a:r>
              <a:rPr lang="en-US" sz="1625" baseline="-40000" dirty="0">
                <a:solidFill>
                  <a:srgbClr val="ADB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fw</a:t>
            </a:r>
            <a:pPr algn="l" indent="0" marL="0">
              <a:lnSpc>
                <a:spcPct val="177273"/>
              </a:lnSpc>
              <a:buNone/>
            </a:pPr>
            <a:r>
              <a:rPr lang="en-US" sz="1950" dirty="0">
                <a:solidFill>
                  <a:srgbClr val="ADB3BE"/>
                </a:solidFill>
                <a:highlight>
                  <a:srgbClr val="191E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1049000" y="5577285"/>
            <a:ext cx="6082665" cy="1190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955"/>
              </a:lnSpc>
              <a:buNone/>
            </a:pPr>
            <a:r>
              <a:rPr lang="en-US" sz="1950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lnSpc>
                <a:spcPct val="132955"/>
              </a:lnSpc>
              <a:buNone/>
            </a:pPr>
            <a:r>
              <a:rPr lang="en-US" sz="1625" baseline="-40000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</a:t>
            </a:r>
            <a:pPr algn="l" indent="0" marL="0">
              <a:lnSpc>
                <a:spcPct val="132955"/>
              </a:lnSpc>
              <a:buNone/>
            </a:pPr>
            <a:r>
              <a:rPr lang="en-US" sz="1950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5.5 kJ/kg·K hot pressurized water, ΔT = 33 K primary. Δh ≈ 1,990 kJ/kg from 190 °C feedwater to saturated steam. Seawater at 8 K rise.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898650"/>
            <a:ext cx="171831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CYCLE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2501900"/>
            <a:ext cx="13269653" cy="1688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206"/>
              </a:lnSpc>
              <a:buNone/>
            </a:pPr>
            <a:r>
              <a:rPr lang="en-US" sz="5700" b="1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net is the right answer, not a compromise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333500" y="4438055"/>
            <a:ext cx="13800966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2400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Saturated steam caps the top temperature near 258 °C. A wet expansion costs turbine efficiency and erodes blades. Condenser backpressure is hostage to seawater temperature. House load takes two points.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33500" y="6285905"/>
            <a:ext cx="15621000" cy="2102445"/>
          </a:xfrm>
          <a:prstGeom prst="rect">
            <a:avLst/>
          </a:prstGeom>
          <a:solidFill>
            <a:srgbClr val="383F4D"/>
          </a:solidFill>
          <a:ln w="6350">
            <a:solidFill>
              <a:srgbClr val="383F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39850" y="6292255"/>
            <a:ext cx="5196384" cy="2089745"/>
          </a:xfrm>
          <a:prstGeom prst="rect">
            <a:avLst/>
          </a:prstGeom>
          <a:solidFill>
            <a:srgbClr val="1E2228"/>
          </a:solidFill>
          <a:ln/>
        </p:spPr>
      </p:sp>
      <p:sp>
        <p:nvSpPr>
          <p:cNvPr id="7" name="Text 5"/>
          <p:cNvSpPr/>
          <p:nvPr/>
        </p:nvSpPr>
        <p:spPr>
          <a:xfrm>
            <a:off x="1663700" y="6635155"/>
            <a:ext cx="5003552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44%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663700" y="7320955"/>
            <a:ext cx="4685144" cy="7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Carnot limit, 258 °C source against a 20 °C sea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545759" y="6292255"/>
            <a:ext cx="5196384" cy="2089745"/>
          </a:xfrm>
          <a:prstGeom prst="rect">
            <a:avLst/>
          </a:prstGeom>
          <a:solidFill>
            <a:srgbClr val="1E2228"/>
          </a:solidFill>
          <a:ln/>
        </p:spPr>
      </p:sp>
      <p:sp>
        <p:nvSpPr>
          <p:cNvPr id="10" name="Text 8"/>
          <p:cNvSpPr/>
          <p:nvPr/>
        </p:nvSpPr>
        <p:spPr>
          <a:xfrm>
            <a:off x="6869609" y="6635155"/>
            <a:ext cx="5003552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~32%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6869609" y="7320955"/>
            <a:ext cx="4685144" cy="7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cycle with moisture losses and isentropic efficiency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751668" y="6292255"/>
            <a:ext cx="5196384" cy="2089745"/>
          </a:xfrm>
          <a:prstGeom prst="rect">
            <a:avLst/>
          </a:prstGeom>
          <a:solidFill>
            <a:srgbClr val="1E2228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5518" y="6635155"/>
            <a:ext cx="5003552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E8A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30%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2075518" y="7320955"/>
            <a:ext cx="4685144" cy="7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after pumps. Fuel is cheap; volume and availability are not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792089"/>
            <a:ext cx="171831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CORE THERMAL-HYDRAULICS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2395339"/>
            <a:ext cx="17183100" cy="863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206"/>
              </a:lnSpc>
              <a:buNone/>
            </a:pPr>
            <a:r>
              <a:rPr lang="en-US" sz="5700" b="1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margins to protect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333500" y="3696792"/>
            <a:ext cx="15621000" cy="3045421"/>
          </a:xfrm>
          <a:prstGeom prst="rect">
            <a:avLst/>
          </a:prstGeom>
          <a:solidFill>
            <a:srgbClr val="383F4D"/>
          </a:solidFill>
          <a:ln w="6350">
            <a:solidFill>
              <a:srgbClr val="383F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39850" y="3703141"/>
            <a:ext cx="5196384" cy="3032720"/>
          </a:xfrm>
          <a:prstGeom prst="rect">
            <a:avLst/>
          </a:prstGeom>
          <a:solidFill>
            <a:srgbClr val="1E2228"/>
          </a:solidFill>
          <a:ln/>
        </p:spPr>
      </p:sp>
      <p:sp>
        <p:nvSpPr>
          <p:cNvPr id="6" name="Text 4"/>
          <p:cNvSpPr/>
          <p:nvPr/>
        </p:nvSpPr>
        <p:spPr>
          <a:xfrm>
            <a:off x="1682750" y="4084141"/>
            <a:ext cx="496164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7D8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FUEL CENTERLINE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82750" y="4490542"/>
            <a:ext cx="4645901" cy="190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the ΔT is across the pellet and the pellet-clad gap. UO₂ conductivity falls with temperature and burnup, so the same linear heat rate runs hotter at end of life.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6545759" y="3703141"/>
            <a:ext cx="5196384" cy="3032720"/>
          </a:xfrm>
          <a:prstGeom prst="rect">
            <a:avLst/>
          </a:prstGeom>
          <a:solidFill>
            <a:srgbClr val="1E2228"/>
          </a:solidFill>
          <a:ln/>
        </p:spPr>
      </p:sp>
      <p:sp>
        <p:nvSpPr>
          <p:cNvPr id="9" name="Text 7"/>
          <p:cNvSpPr/>
          <p:nvPr/>
        </p:nvSpPr>
        <p:spPr>
          <a:xfrm>
            <a:off x="6888659" y="4084141"/>
            <a:ext cx="496164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7D8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CLADDING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88659" y="4490542"/>
            <a:ext cx="4645901" cy="190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1,204 °C peak in a design-basis LOCA, driven by oxidation kinetics, not melting. The gap closes with burnup, which helps thermally and hurts mechanically.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1751668" y="3703141"/>
            <a:ext cx="5196384" cy="3032720"/>
          </a:xfrm>
          <a:prstGeom prst="rect">
            <a:avLst/>
          </a:prstGeom>
          <a:solidFill>
            <a:srgbClr val="1E2228"/>
          </a:solidFill>
          <a:ln/>
        </p:spPr>
      </p:sp>
      <p:sp>
        <p:nvSpPr>
          <p:cNvPr id="12" name="Text 10"/>
          <p:cNvSpPr/>
          <p:nvPr/>
        </p:nvSpPr>
        <p:spPr>
          <a:xfrm>
            <a:off x="12094568" y="4084141"/>
            <a:ext cx="496164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7D8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BOILING CRISIS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094568" y="4490542"/>
            <a:ext cx="4645901" cy="152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Subcooled nucleate boiling is the design regime. Lose it and the wall coefficient collapses under a vapor blanket within seconds.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333500" y="7123212"/>
            <a:ext cx="15621000" cy="1371600"/>
          </a:xfrm>
          <a:prstGeom prst="rect">
            <a:avLst/>
          </a:prstGeom>
          <a:ln w="6350">
            <a:solidFill>
              <a:srgbClr val="383F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82750" y="7596287"/>
            <a:ext cx="5564426" cy="46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MDNBR = q"</a:t>
            </a:r>
            <a:pPr algn="l" indent="0" marL="0">
              <a:buNone/>
            </a:pPr>
            <a:r>
              <a:rPr lang="en-US" sz="1875" baseline="-40000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 </a:t>
            </a:r>
            <a:pPr algn="l" indent="0" marL="0">
              <a:buNone/>
            </a:pPr>
            <a:r>
              <a:rPr lang="en-US" sz="2250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q"</a:t>
            </a:r>
            <a:pPr algn="l" indent="0" marL="0">
              <a:buNone/>
            </a:pPr>
            <a:r>
              <a:rPr lang="en-US" sz="1875" baseline="-40000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</a:t>
            </a:r>
            <a:pPr algn="l" indent="0" marL="0">
              <a:buNone/>
            </a:pPr>
            <a:r>
              <a:rPr lang="en-US" sz="2250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1.30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7122319" y="7434362"/>
            <a:ext cx="9767420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physics — the aggregate of hot channel factors, correlation scatter, and instrument uncertainty carried at 95/95.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1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624211"/>
            <a:ext cx="171831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DECAY HEAT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2189361"/>
            <a:ext cx="17183100" cy="7330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91"/>
              </a:lnSpc>
              <a:buNone/>
            </a:pPr>
            <a:r>
              <a:rPr lang="en-US" sz="4800" b="1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Shut down is not cooled down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333500" y="3303389"/>
            <a:ext cx="15621000" cy="4197350"/>
          </a:xfrm>
          <a:prstGeom prst="rect">
            <a:avLst/>
          </a:prstGeom>
          <a:ln w="6350">
            <a:solidFill>
              <a:srgbClr val="383F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36675" y="3903464"/>
            <a:ext cx="2362299" cy="9525"/>
          </a:xfrm>
          <a:prstGeom prst="rect">
            <a:avLst/>
          </a:prstGeom>
          <a:solidFill>
            <a:srgbClr val="383F4D"/>
          </a:solidFill>
          <a:ln/>
        </p:spPr>
      </p:sp>
      <p:sp>
        <p:nvSpPr>
          <p:cNvPr id="6" name="Text 4"/>
          <p:cNvSpPr/>
          <p:nvPr/>
        </p:nvSpPr>
        <p:spPr>
          <a:xfrm>
            <a:off x="1584325" y="3478014"/>
            <a:ext cx="1943199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7D8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TRIP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98974" y="3903464"/>
            <a:ext cx="2014339" cy="9525"/>
          </a:xfrm>
          <a:prstGeom prst="rect">
            <a:avLst/>
          </a:prstGeom>
          <a:solidFill>
            <a:srgbClr val="383F4D"/>
          </a:solidFill>
          <a:ln/>
        </p:spPr>
      </p:sp>
      <p:sp>
        <p:nvSpPr>
          <p:cNvPr id="8" name="Text 6"/>
          <p:cNvSpPr/>
          <p:nvPr/>
        </p:nvSpPr>
        <p:spPr>
          <a:xfrm>
            <a:off x="3870424" y="3478014"/>
            <a:ext cx="1595239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spc="150" kern="0" dirty="0">
                <a:solidFill>
                  <a:srgbClr val="7D8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FRACTION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3313" y="3903464"/>
            <a:ext cx="2702123" cy="9525"/>
          </a:xfrm>
          <a:prstGeom prst="rect">
            <a:avLst/>
          </a:prstGeom>
          <a:solidFill>
            <a:srgbClr val="383F4D"/>
          </a:solidFill>
          <a:ln/>
        </p:spPr>
      </p:sp>
      <p:sp>
        <p:nvSpPr>
          <p:cNvPr id="10" name="Text 8"/>
          <p:cNvSpPr/>
          <p:nvPr/>
        </p:nvSpPr>
        <p:spPr>
          <a:xfrm>
            <a:off x="5879900" y="3478014"/>
            <a:ext cx="228788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spc="150" kern="0" dirty="0">
                <a:solidFill>
                  <a:srgbClr val="7D8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 MWT CORE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415437" y="3903464"/>
            <a:ext cx="8535888" cy="9525"/>
          </a:xfrm>
          <a:prstGeom prst="rect">
            <a:avLst/>
          </a:prstGeom>
          <a:solidFill>
            <a:srgbClr val="383F4D"/>
          </a:solidFill>
          <a:ln/>
        </p:spPr>
      </p:sp>
      <p:sp>
        <p:nvSpPr>
          <p:cNvPr id="12" name="Text 10"/>
          <p:cNvSpPr/>
          <p:nvPr/>
        </p:nvSpPr>
        <p:spPr>
          <a:xfrm>
            <a:off x="8663087" y="3478014"/>
            <a:ext cx="829666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7D8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REMOVAL PATH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336675" y="4621014"/>
            <a:ext cx="2362299" cy="9525"/>
          </a:xfrm>
          <a:prstGeom prst="rect">
            <a:avLst/>
          </a:prstGeom>
          <a:solidFill>
            <a:srgbClr val="2D3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584325" y="4071739"/>
            <a:ext cx="1943199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second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3698974" y="4621014"/>
            <a:ext cx="2014339" cy="9525"/>
          </a:xfrm>
          <a:prstGeom prst="rect">
            <a:avLst/>
          </a:prstGeom>
          <a:solidFill>
            <a:srgbClr val="2D3340"/>
          </a:solidFill>
          <a:ln/>
        </p:spPr>
      </p:sp>
      <p:sp>
        <p:nvSpPr>
          <p:cNvPr id="16" name="Text 14"/>
          <p:cNvSpPr/>
          <p:nvPr/>
        </p:nvSpPr>
        <p:spPr>
          <a:xfrm>
            <a:off x="3870424" y="4071739"/>
            <a:ext cx="1595239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ADB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6.0%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5713313" y="4621014"/>
            <a:ext cx="2702123" cy="9525"/>
          </a:xfrm>
          <a:prstGeom prst="rect">
            <a:avLst/>
          </a:prstGeom>
          <a:solidFill>
            <a:srgbClr val="2D3340"/>
          </a:solidFill>
          <a:ln/>
        </p:spPr>
      </p:sp>
      <p:sp>
        <p:nvSpPr>
          <p:cNvPr id="18" name="Text 16"/>
          <p:cNvSpPr/>
          <p:nvPr/>
        </p:nvSpPr>
        <p:spPr>
          <a:xfrm>
            <a:off x="5879900" y="4071739"/>
            <a:ext cx="2287887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7.2 MWt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8415437" y="4621014"/>
            <a:ext cx="8535888" cy="9525"/>
          </a:xfrm>
          <a:prstGeom prst="rect">
            <a:avLst/>
          </a:prstGeom>
          <a:solidFill>
            <a:srgbClr val="2D3340"/>
          </a:solidFill>
          <a:ln/>
        </p:spPr>
      </p:sp>
      <p:sp>
        <p:nvSpPr>
          <p:cNvPr id="20" name="Text 18"/>
          <p:cNvSpPr/>
          <p:nvPr/>
        </p:nvSpPr>
        <p:spPr>
          <a:xfrm>
            <a:off x="8663087" y="4071739"/>
            <a:ext cx="8296665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Coolant thermal inertia, pump coastdown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1336675" y="5338564"/>
            <a:ext cx="2362299" cy="9525"/>
          </a:xfrm>
          <a:prstGeom prst="rect">
            <a:avLst/>
          </a:prstGeom>
          <a:solidFill>
            <a:srgbClr val="2D3340"/>
          </a:solidFill>
          <a:ln/>
        </p:spPr>
      </p:sp>
      <p:sp>
        <p:nvSpPr>
          <p:cNvPr id="22" name="Text 20"/>
          <p:cNvSpPr/>
          <p:nvPr/>
        </p:nvSpPr>
        <p:spPr>
          <a:xfrm>
            <a:off x="1584325" y="4789289"/>
            <a:ext cx="1943199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minute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3698974" y="5338564"/>
            <a:ext cx="2014339" cy="9525"/>
          </a:xfrm>
          <a:prstGeom prst="rect">
            <a:avLst/>
          </a:prstGeom>
          <a:solidFill>
            <a:srgbClr val="2D3340"/>
          </a:solidFill>
          <a:ln/>
        </p:spPr>
      </p:sp>
      <p:sp>
        <p:nvSpPr>
          <p:cNvPr id="24" name="Text 22"/>
          <p:cNvSpPr/>
          <p:nvPr/>
        </p:nvSpPr>
        <p:spPr>
          <a:xfrm>
            <a:off x="3870424" y="4789289"/>
            <a:ext cx="1595239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ADB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2.5%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5713313" y="5338564"/>
            <a:ext cx="2702123" cy="9525"/>
          </a:xfrm>
          <a:prstGeom prst="rect">
            <a:avLst/>
          </a:prstGeom>
          <a:solidFill>
            <a:srgbClr val="2D3340"/>
          </a:solidFill>
          <a:ln/>
        </p:spPr>
      </p:sp>
      <p:sp>
        <p:nvSpPr>
          <p:cNvPr id="26" name="Text 24"/>
          <p:cNvSpPr/>
          <p:nvPr/>
        </p:nvSpPr>
        <p:spPr>
          <a:xfrm>
            <a:off x="5879900" y="4789289"/>
            <a:ext cx="2287887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 MWt</a:t>
            </a:r>
            <a:endParaRPr lang="en-US" sz="2025" dirty="0"/>
          </a:p>
        </p:txBody>
      </p:sp>
      <p:sp>
        <p:nvSpPr>
          <p:cNvPr id="27" name="Shape 25"/>
          <p:cNvSpPr/>
          <p:nvPr/>
        </p:nvSpPr>
        <p:spPr>
          <a:xfrm>
            <a:off x="8415437" y="5338564"/>
            <a:ext cx="8535888" cy="9525"/>
          </a:xfrm>
          <a:prstGeom prst="rect">
            <a:avLst/>
          </a:prstGeom>
          <a:solidFill>
            <a:srgbClr val="2D3340"/>
          </a:solidFill>
          <a:ln/>
        </p:spPr>
      </p:sp>
      <p:sp>
        <p:nvSpPr>
          <p:cNvPr id="28" name="Text 26"/>
          <p:cNvSpPr/>
          <p:nvPr/>
        </p:nvSpPr>
        <p:spPr>
          <a:xfrm>
            <a:off x="8663087" y="4789289"/>
            <a:ext cx="8296665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circulation, SG steaming to atmosphere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1336675" y="6056114"/>
            <a:ext cx="2362299" cy="9525"/>
          </a:xfrm>
          <a:prstGeom prst="rect">
            <a:avLst/>
          </a:prstGeom>
          <a:solidFill>
            <a:srgbClr val="2D3340"/>
          </a:solidFill>
          <a:ln/>
        </p:spPr>
      </p:sp>
      <p:sp>
        <p:nvSpPr>
          <p:cNvPr id="30" name="Text 28"/>
          <p:cNvSpPr/>
          <p:nvPr/>
        </p:nvSpPr>
        <p:spPr>
          <a:xfrm>
            <a:off x="1584325" y="5506839"/>
            <a:ext cx="1943199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hour</a:t>
            </a:r>
            <a:endParaRPr lang="en-US" sz="2025" dirty="0"/>
          </a:p>
        </p:txBody>
      </p:sp>
      <p:sp>
        <p:nvSpPr>
          <p:cNvPr id="31" name="Shape 29"/>
          <p:cNvSpPr/>
          <p:nvPr/>
        </p:nvSpPr>
        <p:spPr>
          <a:xfrm>
            <a:off x="3698974" y="6056114"/>
            <a:ext cx="2014339" cy="9525"/>
          </a:xfrm>
          <a:prstGeom prst="rect">
            <a:avLst/>
          </a:prstGeom>
          <a:solidFill>
            <a:srgbClr val="2D3340"/>
          </a:solidFill>
          <a:ln/>
        </p:spPr>
      </p:sp>
      <p:sp>
        <p:nvSpPr>
          <p:cNvPr id="32" name="Text 30"/>
          <p:cNvSpPr/>
          <p:nvPr/>
        </p:nvSpPr>
        <p:spPr>
          <a:xfrm>
            <a:off x="3870424" y="5506839"/>
            <a:ext cx="1595239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ADB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1.3%</a:t>
            </a:r>
            <a:endParaRPr lang="en-US" sz="2025" dirty="0"/>
          </a:p>
        </p:txBody>
      </p:sp>
      <p:sp>
        <p:nvSpPr>
          <p:cNvPr id="33" name="Shape 31"/>
          <p:cNvSpPr/>
          <p:nvPr/>
        </p:nvSpPr>
        <p:spPr>
          <a:xfrm>
            <a:off x="5713313" y="6056114"/>
            <a:ext cx="2702123" cy="9525"/>
          </a:xfrm>
          <a:prstGeom prst="rect">
            <a:avLst/>
          </a:prstGeom>
          <a:solidFill>
            <a:srgbClr val="2D3340"/>
          </a:solidFill>
          <a:ln/>
        </p:spPr>
      </p:sp>
      <p:sp>
        <p:nvSpPr>
          <p:cNvPr id="34" name="Text 32"/>
          <p:cNvSpPr/>
          <p:nvPr/>
        </p:nvSpPr>
        <p:spPr>
          <a:xfrm>
            <a:off x="5879900" y="5506839"/>
            <a:ext cx="2287887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 MWt</a:t>
            </a:r>
            <a:endParaRPr lang="en-US" sz="2025" dirty="0"/>
          </a:p>
        </p:txBody>
      </p:sp>
      <p:sp>
        <p:nvSpPr>
          <p:cNvPr id="35" name="Shape 33"/>
          <p:cNvSpPr/>
          <p:nvPr/>
        </p:nvSpPr>
        <p:spPr>
          <a:xfrm>
            <a:off x="8415437" y="6056114"/>
            <a:ext cx="8535888" cy="9525"/>
          </a:xfrm>
          <a:prstGeom prst="rect">
            <a:avLst/>
          </a:prstGeom>
          <a:solidFill>
            <a:srgbClr val="2D3340"/>
          </a:solidFill>
          <a:ln/>
        </p:spPr>
      </p:sp>
      <p:sp>
        <p:nvSpPr>
          <p:cNvPr id="36" name="Text 34"/>
          <p:cNvSpPr/>
          <p:nvPr/>
        </p:nvSpPr>
        <p:spPr>
          <a:xfrm>
            <a:off x="8663087" y="5506839"/>
            <a:ext cx="8296665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condenser to an ambient pool</a:t>
            </a:r>
            <a:endParaRPr lang="en-US" sz="2025" dirty="0"/>
          </a:p>
        </p:txBody>
      </p:sp>
      <p:sp>
        <p:nvSpPr>
          <p:cNvPr id="37" name="Shape 35"/>
          <p:cNvSpPr/>
          <p:nvPr/>
        </p:nvSpPr>
        <p:spPr>
          <a:xfrm>
            <a:off x="1336675" y="6773664"/>
            <a:ext cx="2362299" cy="9525"/>
          </a:xfrm>
          <a:prstGeom prst="rect">
            <a:avLst/>
          </a:prstGeom>
          <a:solidFill>
            <a:srgbClr val="2D3340"/>
          </a:solidFill>
          <a:ln/>
        </p:spPr>
      </p:sp>
      <p:sp>
        <p:nvSpPr>
          <p:cNvPr id="38" name="Text 36"/>
          <p:cNvSpPr/>
          <p:nvPr/>
        </p:nvSpPr>
        <p:spPr>
          <a:xfrm>
            <a:off x="1584325" y="6224389"/>
            <a:ext cx="1943199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day</a:t>
            </a:r>
            <a:endParaRPr lang="en-US" sz="2025" dirty="0"/>
          </a:p>
        </p:txBody>
      </p:sp>
      <p:sp>
        <p:nvSpPr>
          <p:cNvPr id="39" name="Shape 37"/>
          <p:cNvSpPr/>
          <p:nvPr/>
        </p:nvSpPr>
        <p:spPr>
          <a:xfrm>
            <a:off x="3698974" y="6773664"/>
            <a:ext cx="2014339" cy="9525"/>
          </a:xfrm>
          <a:prstGeom prst="rect">
            <a:avLst/>
          </a:prstGeom>
          <a:solidFill>
            <a:srgbClr val="2D3340"/>
          </a:solidFill>
          <a:ln/>
        </p:spPr>
      </p:sp>
      <p:sp>
        <p:nvSpPr>
          <p:cNvPr id="40" name="Text 38"/>
          <p:cNvSpPr/>
          <p:nvPr/>
        </p:nvSpPr>
        <p:spPr>
          <a:xfrm>
            <a:off x="3870424" y="6224389"/>
            <a:ext cx="1595239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ADB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0.5%</a:t>
            </a:r>
            <a:endParaRPr lang="en-US" sz="2025" dirty="0"/>
          </a:p>
        </p:txBody>
      </p:sp>
      <p:sp>
        <p:nvSpPr>
          <p:cNvPr id="41" name="Shape 39"/>
          <p:cNvSpPr/>
          <p:nvPr/>
        </p:nvSpPr>
        <p:spPr>
          <a:xfrm>
            <a:off x="5713313" y="6773664"/>
            <a:ext cx="2702123" cy="9525"/>
          </a:xfrm>
          <a:prstGeom prst="rect">
            <a:avLst/>
          </a:prstGeom>
          <a:solidFill>
            <a:srgbClr val="2D3340"/>
          </a:solidFill>
          <a:ln/>
        </p:spPr>
      </p:sp>
      <p:sp>
        <p:nvSpPr>
          <p:cNvPr id="42" name="Text 40"/>
          <p:cNvSpPr/>
          <p:nvPr/>
        </p:nvSpPr>
        <p:spPr>
          <a:xfrm>
            <a:off x="5879900" y="6224389"/>
            <a:ext cx="2287887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600 kWt</a:t>
            </a:r>
            <a:endParaRPr lang="en-US" sz="2025" dirty="0"/>
          </a:p>
        </p:txBody>
      </p:sp>
      <p:sp>
        <p:nvSpPr>
          <p:cNvPr id="43" name="Shape 41"/>
          <p:cNvSpPr/>
          <p:nvPr/>
        </p:nvSpPr>
        <p:spPr>
          <a:xfrm>
            <a:off x="8415437" y="6773664"/>
            <a:ext cx="8535888" cy="9525"/>
          </a:xfrm>
          <a:prstGeom prst="rect">
            <a:avLst/>
          </a:prstGeom>
          <a:solidFill>
            <a:srgbClr val="2D3340"/>
          </a:solidFill>
          <a:ln/>
        </p:spPr>
      </p:sp>
      <p:sp>
        <p:nvSpPr>
          <p:cNvPr id="44" name="Text 42"/>
          <p:cNvSpPr/>
          <p:nvPr/>
        </p:nvSpPr>
        <p:spPr>
          <a:xfrm>
            <a:off x="8663087" y="6224389"/>
            <a:ext cx="8296665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boil-off inventory sets the grace period</a:t>
            </a:r>
            <a:endParaRPr lang="en-US" sz="2025" dirty="0"/>
          </a:p>
        </p:txBody>
      </p:sp>
      <p:sp>
        <p:nvSpPr>
          <p:cNvPr id="45" name="Text 43"/>
          <p:cNvSpPr/>
          <p:nvPr/>
        </p:nvSpPr>
        <p:spPr>
          <a:xfrm>
            <a:off x="1584325" y="6941939"/>
            <a:ext cx="1943199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month</a:t>
            </a:r>
            <a:endParaRPr lang="en-US" sz="2025" dirty="0"/>
          </a:p>
        </p:txBody>
      </p:sp>
      <p:sp>
        <p:nvSpPr>
          <p:cNvPr id="46" name="Text 44"/>
          <p:cNvSpPr/>
          <p:nvPr/>
        </p:nvSpPr>
        <p:spPr>
          <a:xfrm>
            <a:off x="3870424" y="6941939"/>
            <a:ext cx="1595239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ADB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0.1%</a:t>
            </a:r>
            <a:endParaRPr lang="en-US" sz="2025" dirty="0"/>
          </a:p>
        </p:txBody>
      </p:sp>
      <p:sp>
        <p:nvSpPr>
          <p:cNvPr id="47" name="Text 45"/>
          <p:cNvSpPr/>
          <p:nvPr/>
        </p:nvSpPr>
        <p:spPr>
          <a:xfrm>
            <a:off x="5879900" y="6941939"/>
            <a:ext cx="2287887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 kWt</a:t>
            </a:r>
            <a:endParaRPr lang="en-US" sz="2025" dirty="0"/>
          </a:p>
        </p:txBody>
      </p:sp>
      <p:sp>
        <p:nvSpPr>
          <p:cNvPr id="48" name="Text 46"/>
          <p:cNvSpPr/>
          <p:nvPr/>
        </p:nvSpPr>
        <p:spPr>
          <a:xfrm>
            <a:off x="8663087" y="6941939"/>
            <a:ext cx="829666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 losses through vessel and structure</a:t>
            </a:r>
            <a:endParaRPr lang="en-US" sz="2025" dirty="0"/>
          </a:p>
        </p:txBody>
      </p:sp>
      <p:sp>
        <p:nvSpPr>
          <p:cNvPr id="49" name="Text 47"/>
          <p:cNvSpPr/>
          <p:nvPr/>
        </p:nvSpPr>
        <p:spPr>
          <a:xfrm>
            <a:off x="1333500" y="7862689"/>
            <a:ext cx="1608963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 always the same: how long can the plant sit with no power, no operator, and no external water and stay inside cladding limits. On a ship, "no external water" is ironic and still true.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20279"/>
            <a:ext cx="171831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E8A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WHAT THE SHIP DOES TO THE PLANT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1723529"/>
            <a:ext cx="16089630" cy="1688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206"/>
              </a:lnSpc>
              <a:buNone/>
            </a:pPr>
            <a:r>
              <a:rPr lang="en-US" sz="5700" b="1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thermal-fluids problems with no land analogue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333500" y="3850184"/>
            <a:ext cx="15621000" cy="5316538"/>
          </a:xfrm>
          <a:prstGeom prst="rect">
            <a:avLst/>
          </a:prstGeom>
          <a:solidFill>
            <a:srgbClr val="383F4D"/>
          </a:solidFill>
          <a:ln w="6350">
            <a:solidFill>
              <a:srgbClr val="383F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39850" y="3856534"/>
            <a:ext cx="7799388" cy="2647156"/>
          </a:xfrm>
          <a:prstGeom prst="rect">
            <a:avLst/>
          </a:prstGeom>
          <a:solidFill>
            <a:srgbClr val="1E2228"/>
          </a:solidFill>
          <a:ln/>
        </p:spPr>
      </p:sp>
      <p:sp>
        <p:nvSpPr>
          <p:cNvPr id="6" name="Text 4"/>
          <p:cNvSpPr/>
          <p:nvPr/>
        </p:nvSpPr>
        <p:spPr>
          <a:xfrm>
            <a:off x="1682750" y="4218484"/>
            <a:ext cx="782494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E8A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g β ΔT H — with g moving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682750" y="4650284"/>
            <a:ext cx="7326996" cy="152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circulation driving head depends on gravity direction and effective elevation. A loop with margin upright can stall at 20° of list. Passive cooling has to be demonstrated at the worst credible inclination.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148763" y="3856534"/>
            <a:ext cx="7799388" cy="2647156"/>
          </a:xfrm>
          <a:prstGeom prst="rect">
            <a:avLst/>
          </a:prstGeom>
          <a:solidFill>
            <a:srgbClr val="1E2228"/>
          </a:solidFill>
          <a:ln/>
        </p:spPr>
      </p:sp>
      <p:sp>
        <p:nvSpPr>
          <p:cNvPr id="9" name="Text 7"/>
          <p:cNvSpPr/>
          <p:nvPr/>
        </p:nvSpPr>
        <p:spPr>
          <a:xfrm>
            <a:off x="9491663" y="4218484"/>
            <a:ext cx="782494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E8A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 matching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491663" y="4650284"/>
            <a:ext cx="7326996" cy="152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periods of 8 to 16 seconds sit close to loop transit times and to two-phase density-wave periods. The failure mode is resonant flow oscillation, not gradual degradation.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339850" y="6513215"/>
            <a:ext cx="7799388" cy="2647156"/>
          </a:xfrm>
          <a:prstGeom prst="rect">
            <a:avLst/>
          </a:prstGeom>
          <a:solidFill>
            <a:srgbClr val="1E2228"/>
          </a:solidFill>
          <a:ln/>
        </p:spPr>
      </p:sp>
      <p:sp>
        <p:nvSpPr>
          <p:cNvPr id="12" name="Text 10"/>
          <p:cNvSpPr/>
          <p:nvPr/>
        </p:nvSpPr>
        <p:spPr>
          <a:xfrm>
            <a:off x="1682750" y="6875165"/>
            <a:ext cx="782494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E8A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free surface lies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682750" y="7306965"/>
            <a:ext cx="7326996" cy="1156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Pressurizer, SG downcomer, hotwell, feed tank — all measured by differential pressure, all biased by heel, trim, and acceleration. Level is a safety control input.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9148763" y="6513215"/>
            <a:ext cx="7799388" cy="2647156"/>
          </a:xfrm>
          <a:prstGeom prst="rect">
            <a:avLst/>
          </a:prstGeom>
          <a:solidFill>
            <a:srgbClr val="1E2228"/>
          </a:solidFill>
          <a:ln/>
        </p:spPr>
      </p:sp>
      <p:sp>
        <p:nvSpPr>
          <p:cNvPr id="15" name="Text 13"/>
          <p:cNvSpPr/>
          <p:nvPr/>
        </p:nvSpPr>
        <p:spPr>
          <a:xfrm>
            <a:off x="9491663" y="6875165"/>
            <a:ext cx="782494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E8A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NPSH at the bottom of a heave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491663" y="7306965"/>
            <a:ext cx="7326996" cy="152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Suction static head cycles with motion. Available NPSH must be computed at the trough, not the mean. Feed pumps on near-saturated condensate are the exposed case.</a:t>
            </a:r>
            <a:endParaRPr lang="en-US" sz="20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756866"/>
            <a:ext cx="171831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ULTIMATE HEAT SINK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2360116"/>
            <a:ext cx="12440236" cy="1688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206"/>
              </a:lnSpc>
              <a:buNone/>
            </a:pPr>
            <a:r>
              <a:rPr lang="en-US" sz="5700" b="1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sink is free, infinite, and hostile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333500" y="4296271"/>
            <a:ext cx="1458960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2400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m³/s of seawater through the condenser at full power. That single number sizes the sea chest, the strainers, the circulating pumps, and the through-hull penetrations.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33500" y="5686921"/>
            <a:ext cx="15621000" cy="2843113"/>
          </a:xfrm>
          <a:prstGeom prst="rect">
            <a:avLst/>
          </a:prstGeom>
          <a:solidFill>
            <a:srgbClr val="383F4D"/>
          </a:solidFill>
          <a:ln w="6350">
            <a:solidFill>
              <a:srgbClr val="383F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39850" y="5693271"/>
            <a:ext cx="3894931" cy="2830413"/>
          </a:xfrm>
          <a:prstGeom prst="rect">
            <a:avLst/>
          </a:prstGeom>
          <a:solidFill>
            <a:srgbClr val="1E2228"/>
          </a:solidFill>
          <a:ln/>
        </p:spPr>
      </p:sp>
      <p:sp>
        <p:nvSpPr>
          <p:cNvPr id="7" name="Text 5"/>
          <p:cNvSpPr/>
          <p:nvPr/>
        </p:nvSpPr>
        <p:spPr>
          <a:xfrm>
            <a:off x="1625600" y="6017121"/>
            <a:ext cx="365577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7D8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25600" y="6404471"/>
            <a:ext cx="3423134" cy="18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to 32 °C across trade routes. Design warm and carry margin, or design mean and derate in the tropics.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244307" y="5693271"/>
            <a:ext cx="3894931" cy="2830413"/>
          </a:xfrm>
          <a:prstGeom prst="rect">
            <a:avLst/>
          </a:prstGeom>
          <a:solidFill>
            <a:srgbClr val="1E2228"/>
          </a:solidFill>
          <a:ln/>
        </p:spPr>
      </p:sp>
      <p:sp>
        <p:nvSpPr>
          <p:cNvPr id="10" name="Text 8"/>
          <p:cNvSpPr/>
          <p:nvPr/>
        </p:nvSpPr>
        <p:spPr>
          <a:xfrm>
            <a:off x="5530057" y="6017121"/>
            <a:ext cx="365577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7D8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FOULING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30057" y="6404471"/>
            <a:ext cx="3423134" cy="18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growth and harbor silt. Fouling factor in the design UA, titanium tubing, cleaning access at the yard.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8763" y="5693271"/>
            <a:ext cx="3894931" cy="2830413"/>
          </a:xfrm>
          <a:prstGeom prst="rect">
            <a:avLst/>
          </a:prstGeom>
          <a:solidFill>
            <a:srgbClr val="1E2228"/>
          </a:solidFill>
          <a:ln/>
        </p:spPr>
      </p:sp>
      <p:sp>
        <p:nvSpPr>
          <p:cNvPr id="13" name="Text 11"/>
          <p:cNvSpPr/>
          <p:nvPr/>
        </p:nvSpPr>
        <p:spPr>
          <a:xfrm>
            <a:off x="9434513" y="6017121"/>
            <a:ext cx="365577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7D8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 INGESTION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34513" y="6404471"/>
            <a:ext cx="3423134" cy="1474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 chest uncovering in heavy seas. Vacuum loss is a real cause of unplanned derating.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3053220" y="5693271"/>
            <a:ext cx="3894931" cy="2830413"/>
          </a:xfrm>
          <a:prstGeom prst="rect">
            <a:avLst/>
          </a:prstGeom>
          <a:solidFill>
            <a:srgbClr val="1E2228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8970" y="6017121"/>
            <a:ext cx="365577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7D8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DISCHARGE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338970" y="6404471"/>
            <a:ext cx="3423134" cy="18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plume limits in port, and a permit conversation in every jurisdiction the ship calls at.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1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683544"/>
            <a:ext cx="171831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WHAT I WOULD WANT TO ANALYZE FIRST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2286794"/>
            <a:ext cx="17183100" cy="863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206"/>
              </a:lnSpc>
              <a:buNone/>
            </a:pPr>
            <a:r>
              <a:rPr lang="en-US" sz="5700" b="1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open questions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333500" y="3607296"/>
            <a:ext cx="19050" cy="856258"/>
          </a:xfrm>
          <a:prstGeom prst="rect">
            <a:avLst/>
          </a:prstGeom>
          <a:solidFill>
            <a:srgbClr val="6CC5D4"/>
          </a:solidFill>
          <a:ln/>
        </p:spPr>
      </p:sp>
      <p:sp>
        <p:nvSpPr>
          <p:cNvPr id="5" name="Text 3"/>
          <p:cNvSpPr/>
          <p:nvPr/>
        </p:nvSpPr>
        <p:spPr>
          <a:xfrm>
            <a:off x="1638300" y="3607296"/>
            <a:ext cx="15784830" cy="894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861"/>
              </a:lnSpc>
              <a:buNone/>
            </a:pPr>
            <a:r>
              <a:rPr lang="en-US" sz="2325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what heel angle and sea state does the passive decay heat removal argument stop closing, and how much of that margin is analysis versus test?</a:t>
            </a:r>
            <a:endParaRPr lang="en-US" sz="2325" dirty="0"/>
          </a:p>
        </p:txBody>
      </p:sp>
      <p:sp>
        <p:nvSpPr>
          <p:cNvPr id="6" name="Shape 4"/>
          <p:cNvSpPr/>
          <p:nvPr/>
        </p:nvSpPr>
        <p:spPr>
          <a:xfrm>
            <a:off x="1333500" y="4749304"/>
            <a:ext cx="19050" cy="856258"/>
          </a:xfrm>
          <a:prstGeom prst="rect">
            <a:avLst/>
          </a:prstGeom>
          <a:solidFill>
            <a:srgbClr val="6CC5D4"/>
          </a:solidFill>
          <a:ln/>
        </p:spPr>
      </p:sp>
      <p:sp>
        <p:nvSpPr>
          <p:cNvPr id="7" name="Text 5"/>
          <p:cNvSpPr/>
          <p:nvPr/>
        </p:nvSpPr>
        <p:spPr>
          <a:xfrm>
            <a:off x="1638300" y="4749304"/>
            <a:ext cx="15784830" cy="894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861"/>
              </a:lnSpc>
              <a:buNone/>
            </a:pPr>
            <a:r>
              <a:rPr lang="en-US" sz="2325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roll excitation couple into density-wave instability in the riser, and does the current transient model resolve it?</a:t>
            </a:r>
            <a:endParaRPr lang="en-US" sz="2325" dirty="0"/>
          </a:p>
        </p:txBody>
      </p:sp>
      <p:sp>
        <p:nvSpPr>
          <p:cNvPr id="8" name="Shape 6"/>
          <p:cNvSpPr/>
          <p:nvPr/>
        </p:nvSpPr>
        <p:spPr>
          <a:xfrm>
            <a:off x="1333500" y="5891312"/>
            <a:ext cx="19050" cy="856258"/>
          </a:xfrm>
          <a:prstGeom prst="rect">
            <a:avLst/>
          </a:prstGeom>
          <a:solidFill>
            <a:srgbClr val="6CC5D4"/>
          </a:solidFill>
          <a:ln/>
        </p:spPr>
      </p:sp>
      <p:sp>
        <p:nvSpPr>
          <p:cNvPr id="9" name="Text 7"/>
          <p:cNvSpPr/>
          <p:nvPr/>
        </p:nvSpPr>
        <p:spPr>
          <a:xfrm>
            <a:off x="1638300" y="5891312"/>
            <a:ext cx="15784830" cy="894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861"/>
              </a:lnSpc>
              <a:buNone/>
            </a:pPr>
            <a:r>
              <a:rPr lang="en-US" sz="2325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Once-through or recirculating steam generator — is compactness or transient forgiveness the governing argument here?</a:t>
            </a:r>
            <a:endParaRPr lang="en-US" sz="2325" dirty="0"/>
          </a:p>
        </p:txBody>
      </p:sp>
      <p:sp>
        <p:nvSpPr>
          <p:cNvPr id="10" name="Shape 8"/>
          <p:cNvSpPr/>
          <p:nvPr/>
        </p:nvSpPr>
        <p:spPr>
          <a:xfrm>
            <a:off x="1333500" y="7033320"/>
            <a:ext cx="19050" cy="428129"/>
          </a:xfrm>
          <a:prstGeom prst="rect">
            <a:avLst/>
          </a:prstGeom>
          <a:solidFill>
            <a:srgbClr val="6CC5D4"/>
          </a:solidFill>
          <a:ln/>
        </p:spPr>
      </p:sp>
      <p:sp>
        <p:nvSpPr>
          <p:cNvPr id="11" name="Text 9"/>
          <p:cNvSpPr/>
          <p:nvPr/>
        </p:nvSpPr>
        <p:spPr>
          <a:xfrm>
            <a:off x="1638300" y="7033320"/>
            <a:ext cx="16878300" cy="466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861"/>
              </a:lnSpc>
              <a:buNone/>
            </a:pPr>
            <a:r>
              <a:rPr lang="en-US" sz="2325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design seawater temperature, and is tropical derating accepted or engineered out?</a:t>
            </a:r>
            <a:endParaRPr lang="en-US" sz="2325" dirty="0"/>
          </a:p>
        </p:txBody>
      </p:sp>
      <p:sp>
        <p:nvSpPr>
          <p:cNvPr id="12" name="Shape 10"/>
          <p:cNvSpPr/>
          <p:nvPr/>
        </p:nvSpPr>
        <p:spPr>
          <a:xfrm>
            <a:off x="1333500" y="7747199"/>
            <a:ext cx="19050" cy="856258"/>
          </a:xfrm>
          <a:prstGeom prst="rect">
            <a:avLst/>
          </a:prstGeom>
          <a:solidFill>
            <a:srgbClr val="6CC5D4"/>
          </a:solidFill>
          <a:ln/>
        </p:spPr>
      </p:sp>
      <p:sp>
        <p:nvSpPr>
          <p:cNvPr id="13" name="Text 11"/>
          <p:cNvSpPr/>
          <p:nvPr/>
        </p:nvSpPr>
        <p:spPr>
          <a:xfrm>
            <a:off x="1638300" y="7747199"/>
            <a:ext cx="15784830" cy="894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861"/>
              </a:lnSpc>
              <a:buNone/>
            </a:pPr>
            <a:r>
              <a:rPr lang="en-US" sz="2325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Standardization is the strategy — where does it break, and what has to be re-analyzed per hull rather than per plant?</a:t>
            </a:r>
            <a:endParaRPr lang="en-US" sz="23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152352"/>
            <a:ext cx="171831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6CC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WHERE I FIT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2755602"/>
            <a:ext cx="14171474" cy="863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206"/>
              </a:lnSpc>
              <a:buNone/>
            </a:pPr>
            <a:r>
              <a:rPr lang="en-US" sz="5700" b="1" dirty="0">
                <a:solidFill>
                  <a:srgbClr val="E6E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Boiling limits, measured on hardware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333500" y="3999905"/>
            <a:ext cx="14663495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661"/>
              </a:lnSpc>
              <a:buNone/>
            </a:pPr>
            <a:r>
              <a:rPr lang="en-US" sz="2550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Heat-pipe wicking is a critical heat flux problem: liquid delivery against vapor escape. Multiphase flow and desalination work is void fraction, flow regime, and fouling in real seawater. Same physics, different geometry.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333500" y="5971580"/>
            <a:ext cx="15621000" cy="2163068"/>
          </a:xfrm>
          <a:prstGeom prst="rect">
            <a:avLst/>
          </a:prstGeom>
          <a:solidFill>
            <a:srgbClr val="383F4D"/>
          </a:solidFill>
          <a:ln w="6350">
            <a:solidFill>
              <a:srgbClr val="383F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39850" y="5977930"/>
            <a:ext cx="5196384" cy="2150368"/>
          </a:xfrm>
          <a:prstGeom prst="rect">
            <a:avLst/>
          </a:prstGeom>
          <a:solidFill>
            <a:srgbClr val="1E2228"/>
          </a:solidFill>
          <a:ln/>
        </p:spPr>
      </p:sp>
      <p:sp>
        <p:nvSpPr>
          <p:cNvPr id="7" name="Text 5"/>
          <p:cNvSpPr/>
          <p:nvPr/>
        </p:nvSpPr>
        <p:spPr>
          <a:xfrm>
            <a:off x="1644650" y="6320830"/>
            <a:ext cx="504546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7D8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CHF, EXPERIMENTALLY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4650" y="6708180"/>
            <a:ext cx="4724387" cy="7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against a dryout limit on a rig, not just from a correlation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545759" y="5977930"/>
            <a:ext cx="5196384" cy="2150368"/>
          </a:xfrm>
          <a:prstGeom prst="rect">
            <a:avLst/>
          </a:prstGeom>
          <a:solidFill>
            <a:srgbClr val="1E2228"/>
          </a:solidFill>
          <a:ln/>
        </p:spPr>
      </p:sp>
      <p:sp>
        <p:nvSpPr>
          <p:cNvPr id="10" name="Text 8"/>
          <p:cNvSpPr/>
          <p:nvPr/>
        </p:nvSpPr>
        <p:spPr>
          <a:xfrm>
            <a:off x="6850559" y="6320830"/>
            <a:ext cx="504546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7D8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SEAWATER SERVICE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0559" y="6708180"/>
            <a:ext cx="4724387" cy="11153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Evaporators, condensers, scaling and material selection in the real fluid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751668" y="5977930"/>
            <a:ext cx="5196384" cy="2150368"/>
          </a:xfrm>
          <a:prstGeom prst="rect">
            <a:avLst/>
          </a:prstGeom>
          <a:solidFill>
            <a:srgbClr val="1E2228"/>
          </a:solidFill>
          <a:ln/>
        </p:spPr>
      </p:sp>
      <p:sp>
        <p:nvSpPr>
          <p:cNvPr id="13" name="Text 11"/>
          <p:cNvSpPr/>
          <p:nvPr/>
        </p:nvSpPr>
        <p:spPr>
          <a:xfrm>
            <a:off x="12056468" y="6320830"/>
            <a:ext cx="504546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7D8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FIRST-OF-A-KIND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056468" y="6708180"/>
            <a:ext cx="4724387" cy="7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AD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Comfortable where the requirement moves and the rig is the analysis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2026-09-18T17:36:10Z</dcterms:created>
  <dcterms:modified xsi:type="dcterms:W3CDTF">2026-09-18T17:36:10Z</dcterms:modified>
</cp:coreProperties>
</file>