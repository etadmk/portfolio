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Only present this if invited. Otherwise offer to send it after the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417320"/>
            <a:ext cx="6949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Aditi Kalle</a:t>
            </a:r>
            <a:endParaRPr lang="en-US" sz="4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77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F27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Thermal-Fluids &amp; Experimental Validation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063240"/>
            <a:ext cx="7315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years building, instrumenting and debugging high-heat-flux test hardware —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boiling, capillary evaporation, CHF, and liquid-metal blanket materials.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4206240"/>
            <a:ext cx="2743200" cy="0"/>
          </a:xfrm>
          <a:prstGeom prst="line">
            <a:avLst/>
          </a:prstGeom>
          <a:noFill/>
          <a:ln w="12700">
            <a:solidFill>
              <a:srgbClr val="24374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43891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Dominick Bindl  ·  Realta Fusion  ·  September 2026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47548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etadmk@gmail.com  ·  217-200-3419  ·  linkedin.com/in/aditikprofile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052560" y="2148840"/>
            <a:ext cx="310896" cy="1691640"/>
          </a:xfrm>
          <a:prstGeom prst="roundRect">
            <a:avLst>
              <a:gd name="adj" fmla="val 14706"/>
            </a:avLst>
          </a:prstGeom>
          <a:solidFill>
            <a:srgbClr val="5FA8E8"/>
          </a:solidFill>
          <a:ln w="12700">
            <a:solidFill>
              <a:srgbClr val="5FA8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247120" y="2148840"/>
            <a:ext cx="310896" cy="1691640"/>
          </a:xfrm>
          <a:prstGeom prst="roundRect">
            <a:avLst>
              <a:gd name="adj" fmla="val 14706"/>
            </a:avLst>
          </a:prstGeom>
          <a:solidFill>
            <a:srgbClr val="5FA8E8"/>
          </a:solidFill>
          <a:ln w="12700">
            <a:solidFill>
              <a:srgbClr val="5FA8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9546336" y="2606040"/>
            <a:ext cx="1517904" cy="777240"/>
          </a:xfrm>
          <a:prstGeom prst="ellipse">
            <a:avLst/>
          </a:prstGeom>
          <a:solidFill>
            <a:srgbClr val="F2703C"/>
          </a:solidFill>
          <a:ln w="12700">
            <a:solidFill>
              <a:srgbClr val="F2703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778240" y="4069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magnetic mirror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I have worked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coherent thread since 2021: heat transfer at surfaces that fail by drying out.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06040" cy="3794760"/>
          </a:xfrm>
          <a:prstGeom prst="roundRect">
            <a:avLst>
              <a:gd name="adj" fmla="val 2105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783080"/>
            <a:ext cx="146304" cy="146304"/>
          </a:xfrm>
          <a:prstGeom prst="ellipse">
            <a:avLst/>
          </a:prstGeom>
          <a:solidFill>
            <a:srgbClr val="5FA8E8"/>
          </a:solidFill>
          <a:ln w="12700">
            <a:solidFill>
              <a:srgbClr val="5FA8E8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96112" y="1709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2021–22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58368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UIUC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2487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Energy &amp; Multiphase Flow Lab</a:t>
            </a:r>
            <a:endParaRPr lang="en-US" sz="11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boiling on micro-machined stainless; falling-film evaporation and CaCO₃ fouling.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658368" y="3977640"/>
            <a:ext cx="2194560" cy="0"/>
          </a:xfrm>
          <a:prstGeom prst="line">
            <a:avLst/>
          </a:prstGeom>
          <a:noFill/>
          <a:ln w="12700">
            <a:solidFill>
              <a:srgbClr val="2437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co-authored papers — ASME JHMT and Desalination.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3268980" y="1554480"/>
            <a:ext cx="2606040" cy="3794760"/>
          </a:xfrm>
          <a:prstGeom prst="roundRect">
            <a:avLst>
              <a:gd name="adj" fmla="val 2105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470148" y="1783080"/>
            <a:ext cx="146304" cy="146304"/>
          </a:xfrm>
          <a:prstGeom prst="ellipse">
            <a:avLst/>
          </a:prstGeom>
          <a:solidFill>
            <a:srgbClr val="F2703C"/>
          </a:solidFill>
          <a:ln w="12700">
            <a:solidFill>
              <a:srgbClr val="F270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707892" y="1709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3470148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UCSD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3470148" y="2487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Thermal Energy Materials &amp; Physics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3470148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Capillary-fed thin-film evaporation on AAO, glass fibre and hydrogel wicks.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70148" y="3977640"/>
            <a:ext cx="2194560" cy="0"/>
          </a:xfrm>
          <a:prstGeom prst="line">
            <a:avLst/>
          </a:prstGeom>
          <a:noFill/>
          <a:ln w="12700">
            <a:solidFill>
              <a:srgbClr val="243745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470148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CHF characterised to ~600 W/cm² on GB-140.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6080760" y="1554480"/>
            <a:ext cx="2606040" cy="3794760"/>
          </a:xfrm>
          <a:prstGeom prst="roundRect">
            <a:avLst>
              <a:gd name="adj" fmla="val 2105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281928" y="1783080"/>
            <a:ext cx="146304" cy="146304"/>
          </a:xfrm>
          <a:prstGeom prst="ellipse">
            <a:avLst/>
          </a:prstGeom>
          <a:solidFill>
            <a:srgbClr val="4FC9A5"/>
          </a:solidFill>
          <a:ln w="12700">
            <a:solidFill>
              <a:srgbClr val="4FC9A5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19672" y="1709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6281928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Zap Energy</a:t>
            </a:r>
            <a:endParaRPr lang="en-US" sz="1900" dirty="0"/>
          </a:p>
        </p:txBody>
      </p:sp>
      <p:sp>
        <p:nvSpPr>
          <p:cNvPr id="24" name="Text 22"/>
          <p:cNvSpPr txBox="1"/>
          <p:nvPr/>
        </p:nvSpPr>
        <p:spPr>
          <a:xfrm>
            <a:off x="6281928" y="2487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Advanced Materials Group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6281928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Liquid-metal blanket alloys and porous refractory structures.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281928" y="3977640"/>
            <a:ext cx="2194560" cy="0"/>
          </a:xfrm>
          <a:prstGeom prst="line">
            <a:avLst/>
          </a:prstGeom>
          <a:noFill/>
          <a:ln w="12700">
            <a:solidFill>
              <a:srgbClr val="243745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281928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Eutectic found by STA/DSC; porous W permeability modelled and verified.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8892540" y="1554480"/>
            <a:ext cx="2606040" cy="3794760"/>
          </a:xfrm>
          <a:prstGeom prst="roundRect">
            <a:avLst>
              <a:gd name="adj" fmla="val 2105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93708" y="1783080"/>
            <a:ext cx="146304" cy="146304"/>
          </a:xfrm>
          <a:prstGeom prst="ellipse">
            <a:avLst/>
          </a:prstGeom>
          <a:solidFill>
            <a:srgbClr val="F3C94B"/>
          </a:solidFill>
          <a:ln w="12700">
            <a:solidFill>
              <a:srgbClr val="F3C9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9331452" y="1709928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9093708" y="210312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MarineSitu</a:t>
            </a:r>
            <a:endParaRPr lang="en-US" sz="1900" dirty="0"/>
          </a:p>
        </p:txBody>
      </p:sp>
      <p:sp>
        <p:nvSpPr>
          <p:cNvPr id="32" name="Text 30"/>
          <p:cNvSpPr txBox="1"/>
          <p:nvPr/>
        </p:nvSpPr>
        <p:spPr>
          <a:xfrm>
            <a:off x="9093708" y="2487168"/>
            <a:ext cx="2194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 ORISE / WPTO Fellow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9093708" y="301752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twin and LP/MILP scheduling for off-grid marine power.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9093708" y="3977640"/>
            <a:ext cx="2194560" cy="0"/>
          </a:xfrm>
          <a:prstGeom prst="line">
            <a:avLst/>
          </a:prstGeom>
          <a:noFill/>
          <a:ln w="12700">
            <a:solidFill>
              <a:srgbClr val="243745"/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9093708" y="4114800"/>
            <a:ext cx="21945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Deployable schedules validated against ERA5 across five sites.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heat flux and dryout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failure mode I have spent four years measuring is the one that ends a plasma-facing surface.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6675120" cy="4114800"/>
          </a:xfrm>
          <a:prstGeom prst="roundRect">
            <a:avLst>
              <a:gd name="adj" fmla="val 1333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77240" y="1828800"/>
            <a:ext cx="6035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27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actually did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240280"/>
            <a:ext cx="603504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Ramped heat flux on capillary-fed wicks until the departure from linear q″ vs ΔT signalled incipient dryout.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Framed the design limit as a pressure budget — Young–Laplace driving pressure against Darcy resistance.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and ran the loops: degassing, flow control, high-density thermocouple arrays, pressure taps, Python DAQ.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Root-caused the failures that were instrumentation rather than physics, and the ones that were physics.</a:t>
            </a:r>
            <a:endParaRPr lang="en-US" sz="1350" dirty="0"/>
          </a:p>
          <a:p>
            <a:pPr marL="342900" indent="-342900">
              <a:lnSpc>
                <a:spcPts val="1800"/>
              </a:lnSpc>
              <a:spcAft>
                <a:spcPts val="1200"/>
              </a:spcAft>
              <a:buSzPct val="100000"/>
              <a:buChar char="•"/>
            </a:pPr>
            <a:r>
              <a:rPr lang="en-US" sz="13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Separately, pool boiling on micro-grooved stainless — groove depth and pitch against nucleation and scaling.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7406640" y="1600200"/>
            <a:ext cx="4297680" cy="1234440"/>
          </a:xfrm>
          <a:prstGeom prst="roundRect">
            <a:avLst>
              <a:gd name="adj" fmla="val 4444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680960" y="176479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27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~600</a:t>
            </a:r>
            <a:endParaRPr lang="en-US" sz="4000" dirty="0"/>
          </a:p>
        </p:txBody>
      </p:sp>
      <p:sp>
        <p:nvSpPr>
          <p:cNvPr id="9" name="Text 7"/>
          <p:cNvSpPr txBox="1"/>
          <p:nvPr/>
        </p:nvSpPr>
        <p:spPr>
          <a:xfrm>
            <a:off x="9418320" y="201168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W/cm² CHF characterised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7406640" y="3017520"/>
            <a:ext cx="4297680" cy="1234440"/>
          </a:xfrm>
          <a:prstGeom prst="roundRect">
            <a:avLst>
              <a:gd name="adj" fmla="val 4444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680960" y="318211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5FA8E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4000" dirty="0"/>
          </a:p>
        </p:txBody>
      </p:sp>
      <p:sp>
        <p:nvSpPr>
          <p:cNvPr id="12" name="Text 10"/>
          <p:cNvSpPr txBox="1"/>
          <p:nvPr/>
        </p:nvSpPr>
        <p:spPr>
          <a:xfrm>
            <a:off x="9418320" y="342900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peer-reviewed papers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406640" y="4434840"/>
            <a:ext cx="4297680" cy="1234440"/>
          </a:xfrm>
          <a:prstGeom prst="roundRect">
            <a:avLst>
              <a:gd name="adj" fmla="val 4444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680960" y="4599432"/>
            <a:ext cx="17373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4FC9A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4000" dirty="0"/>
          </a:p>
        </p:txBody>
      </p:sp>
      <p:sp>
        <p:nvSpPr>
          <p:cNvPr id="15" name="Text 13"/>
          <p:cNvSpPr txBox="1"/>
          <p:nvPr/>
        </p:nvSpPr>
        <p:spPr>
          <a:xfrm>
            <a:off x="9418320" y="4846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years of rig time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Materials and porous structures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Zap Energy, Advanced Materials Group — 2024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783080"/>
            <a:ext cx="457200" cy="457200"/>
          </a:xfrm>
          <a:prstGeom prst="ellipse">
            <a:avLst/>
          </a:prstGeom>
          <a:solidFill>
            <a:srgbClr val="16242F"/>
          </a:solidFill>
          <a:ln w="19050">
            <a:solidFill>
              <a:srgbClr val="4FC9A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938528"/>
            <a:ext cx="146304" cy="146304"/>
          </a:xfrm>
          <a:prstGeom prst="ellipse">
            <a:avLst/>
          </a:prstGeom>
          <a:solidFill>
            <a:srgbClr val="4FC9A5"/>
          </a:solidFill>
          <a:ln w="12700">
            <a:solidFill>
              <a:srgbClr val="4FC9A5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188720" y="170992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Liquid-metal blanket alloys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1188720" y="2057400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alloys prepared in an inert glovebox. Eutectic composition of a novel alloy family determined by STA with TGA and DSC.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2843784"/>
            <a:ext cx="457200" cy="457200"/>
          </a:xfrm>
          <a:prstGeom prst="ellipse">
            <a:avLst/>
          </a:prstGeom>
          <a:solidFill>
            <a:srgbClr val="16242F"/>
          </a:solidFill>
          <a:ln w="19050">
            <a:solidFill>
              <a:srgbClr val="F3C94B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58368" y="2999232"/>
            <a:ext cx="146304" cy="146304"/>
          </a:xfrm>
          <a:prstGeom prst="ellipse">
            <a:avLst/>
          </a:prstGeom>
          <a:solidFill>
            <a:srgbClr val="F3C94B"/>
          </a:solidFill>
          <a:ln w="12700">
            <a:solidFill>
              <a:srgbClr val="F3C94B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277063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the eutectic matters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188720" y="3118104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Lowest melting point in the system and a single sharp freezing point — so the loop minimum temperature drops and nothing solidifies in a pipe.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02920" y="3904488"/>
            <a:ext cx="457200" cy="457200"/>
          </a:xfrm>
          <a:prstGeom prst="ellipse">
            <a:avLst/>
          </a:prstGeom>
          <a:solidFill>
            <a:srgbClr val="16242F"/>
          </a:solidFill>
          <a:ln w="19050">
            <a:solidFill>
              <a:srgbClr val="5FA8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58368" y="4059936"/>
            <a:ext cx="146304" cy="146304"/>
          </a:xfrm>
          <a:prstGeom prst="ellipse">
            <a:avLst/>
          </a:prstGeom>
          <a:solidFill>
            <a:srgbClr val="5FA8E8"/>
          </a:solidFill>
          <a:ln w="12700">
            <a:solidFill>
              <a:srgbClr val="5FA8E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188720" y="383133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Microstructure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188720" y="417880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SEM/EDX and optical microscopy to confirm phase morphology against the thermal analysis.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02920" y="4965192"/>
            <a:ext cx="457200" cy="457200"/>
          </a:xfrm>
          <a:prstGeom prst="ellipse">
            <a:avLst/>
          </a:prstGeom>
          <a:solidFill>
            <a:srgbClr val="16242F"/>
          </a:solidFill>
          <a:ln w="19050">
            <a:solidFill>
              <a:srgbClr val="F2703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58368" y="5120640"/>
            <a:ext cx="146304" cy="146304"/>
          </a:xfrm>
          <a:prstGeom prst="ellipse">
            <a:avLst/>
          </a:prstGeom>
          <a:solidFill>
            <a:srgbClr val="F2703C"/>
          </a:solidFill>
          <a:ln w="12700">
            <a:solidFill>
              <a:srgbClr val="F2703C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1188720" y="489204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Porous tungsten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1188720" y="5239512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COMSOL porous-media modelling for porosity and permeability, with Archimedes density as the independent experimental check.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57200" y="598932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A849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Compositions are proprietary — methods and reasoning described, specifics withheld.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411480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this maps at Realta</a:t>
            </a:r>
            <a:endParaRPr lang="en-US" sz="34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24128"/>
            <a:ext cx="10607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mirror puts the hardest heat-flux surfaces at the ends and in the heating systems, not at a divertor.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49808" y="1911096"/>
            <a:ext cx="128016" cy="128016"/>
          </a:xfrm>
          <a:prstGeom prst="ellipse">
            <a:avLst/>
          </a:prstGeom>
          <a:solidFill>
            <a:srgbClr val="F2703C"/>
          </a:solidFill>
          <a:ln w="12700">
            <a:solidFill>
              <a:srgbClr val="F2703C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1024128" y="1801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 wall and expander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749808" y="220370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Concentrated charged-particle flux, spread only by how much magnetic expansion you can buy. The largest high-heat-flux surface in the machine.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749808" y="31363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270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— CHF and dryout characterisation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126480" y="1600200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419088" y="1911096"/>
            <a:ext cx="128016" cy="128016"/>
          </a:xfrm>
          <a:prstGeom prst="ellipse">
            <a:avLst/>
          </a:prstGeom>
          <a:solidFill>
            <a:srgbClr val="5FA8E8"/>
          </a:solidFill>
          <a:ln w="12700">
            <a:solidFill>
              <a:srgbClr val="5FA8E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693408" y="180136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Gyrotron collectors and beam dumps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6419088" y="2203704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1 MW gyrotron dumps roughly its own output into the collector. CHF in subcooled flow boiling is the design limit.</a:t>
            </a:r>
            <a:endParaRPr lang="en-US" sz="1250" dirty="0"/>
          </a:p>
        </p:txBody>
      </p:sp>
      <p:sp>
        <p:nvSpPr>
          <p:cNvPr id="13" name="Text 11"/>
          <p:cNvSpPr txBox="1"/>
          <p:nvPr/>
        </p:nvSpPr>
        <p:spPr>
          <a:xfrm>
            <a:off x="6419088" y="3136392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FA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Adjacent — same limit, different boiling regime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813048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49808" y="4123944"/>
            <a:ext cx="128016" cy="128016"/>
          </a:xfrm>
          <a:prstGeom prst="ellipse">
            <a:avLst/>
          </a:prstGeom>
          <a:solidFill>
            <a:srgbClr val="4FC9A5"/>
          </a:solidFill>
          <a:ln w="12700">
            <a:solidFill>
              <a:srgbClr val="4FC9A5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024128" y="40142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Blanket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749808" y="44165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Neutron heating, tritium breeding, and — because the product is process heat — an outlet temperature that is a customer specification.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49808" y="5349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C9A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— liquid-metal alloys, eutectics, porous refractory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3813048"/>
            <a:ext cx="5440680" cy="2011680"/>
          </a:xfrm>
          <a:prstGeom prst="roundRect">
            <a:avLst>
              <a:gd name="adj" fmla="val 2727"/>
            </a:avLst>
          </a:prstGeom>
          <a:solidFill>
            <a:srgbClr val="16242F"/>
          </a:solidFill>
          <a:ln w="12700">
            <a:solidFill>
              <a:srgbClr val="24374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19088" y="4123944"/>
            <a:ext cx="128016" cy="128016"/>
          </a:xfrm>
          <a:prstGeom prst="ellipse">
            <a:avLst/>
          </a:prstGeom>
          <a:solidFill>
            <a:srgbClr val="F3C94B"/>
          </a:solidFill>
          <a:ln w="12700">
            <a:solidFill>
              <a:srgbClr val="F3C9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693408" y="401421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electrodes</a:t>
            </a:r>
            <a:endParaRPr lang="en-US" sz="1600" dirty="0"/>
          </a:p>
        </p:txBody>
      </p:sp>
      <p:sp>
        <p:nvSpPr>
          <p:cNvPr id="22" name="Text 20"/>
          <p:cNvSpPr txBox="1"/>
          <p:nvPr/>
        </p:nvSpPr>
        <p:spPr>
          <a:xfrm>
            <a:off x="6419088" y="4416552"/>
            <a:ext cx="48463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2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heat flux on a surface held at high potential. Insulating breaks, coolant conductivity control, standoff.</a:t>
            </a:r>
            <a:endParaRPr lang="en-US" sz="1250" dirty="0"/>
          </a:p>
        </p:txBody>
      </p:sp>
      <p:sp>
        <p:nvSpPr>
          <p:cNvPr id="23" name="Text 21"/>
          <p:cNvSpPr txBox="1"/>
          <p:nvPr/>
        </p:nvSpPr>
        <p:spPr>
          <a:xfrm>
            <a:off x="6419088" y="5349240"/>
            <a:ext cx="4846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3C9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to me — and the problem I find most interesting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162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4008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 am proposing</a:t>
            </a:r>
            <a:endParaRPr lang="en-US" sz="38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37160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270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Thermal-fluids test hardware for the Forge</a:t>
            </a:r>
            <a:endParaRPr lang="en-US" sz="22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16712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463040" y="213055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 the rigs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3931920" y="213055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Design, build and instrument the loops and calorimetry that qualify components before they go on a machine.</a:t>
            </a:r>
            <a:endParaRPr lang="en-US" sz="1350" dirty="0"/>
          </a:p>
        </p:txBody>
      </p:sp>
      <p:sp>
        <p:nvSpPr>
          <p:cNvPr id="7" name="Text 5"/>
          <p:cNvSpPr txBox="1"/>
          <p:nvPr/>
        </p:nvSpPr>
        <p:spPr>
          <a:xfrm>
            <a:off x="640080" y="321868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463040" y="318211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real data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3931920" y="318211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High-density thermocouple arrays, flow and pressure instrumentation, DAQ, and the discipline to tell an artefact from an effect.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4270248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3A546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463040" y="4233672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F0F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Close the loop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3931920" y="4233672"/>
            <a:ext cx="75895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350" dirty="0">
                <a:solidFill>
                  <a:srgbClr val="93A9B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Correlate the thermal models against what the rigs actually measure, and say plainly what is verified versus inferred.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440680"/>
            <a:ext cx="10881360" cy="868680"/>
          </a:xfrm>
          <a:prstGeom prst="roundRect">
            <a:avLst>
              <a:gd name="adj" fmla="val 6316"/>
            </a:avLst>
          </a:prstGeom>
          <a:solidFill>
            <a:srgbClr val="16242F"/>
          </a:solidFill>
          <a:ln w="12700">
            <a:solidFill>
              <a:srgbClr val="F2703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1005840" y="5650992"/>
            <a:ext cx="10149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8F0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Forge is being fitted out and Hammir construction starts this year. Available immediately.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Thermal-Fluids &amp; Experimental Validation — Realta Fusion</dc:title>
  <dc:subject>PptxGenJS Presentation</dc:subject>
  <dc:creator>Aditi Kalle</dc:creator>
  <cp:lastModifiedBy>Aditi Kalle</cp:lastModifiedBy>
  <cp:revision>1</cp:revision>
  <dcterms:created xsi:type="dcterms:W3CDTF">2026-09-04T18:16:56Z</dcterms:created>
  <dcterms:modified xsi:type="dcterms:W3CDTF">2026-09-04T18:16:56Z</dcterms:modified>
</cp:coreProperties>
</file>